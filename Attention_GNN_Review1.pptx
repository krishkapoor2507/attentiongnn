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Kipf &amp; Welling (2017) GCN; Veličković et al. (2018) GAT; Akoglu, Tong &amp; Koutra (2015) graph anomaly detection survey; Ying et al. (2019) GNNExplainer; Zhang et al. (2022) attention-based graph anomaly detection; Newman (2010) Networks: An Introduction. Verify exact citation details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3616" y="493776"/>
            <a:ext cx="109728" cy="109728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10544" y="969264"/>
            <a:ext cx="73152" cy="73152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85448" y="338328"/>
            <a:ext cx="54864" cy="54864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5989320"/>
            <a:ext cx="91440" cy="91440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6364224"/>
            <a:ext cx="73152" cy="73152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6888" y="5733288"/>
            <a:ext cx="54864" cy="54864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PROJECT PROPOSAL  ·  FIFTH SEMESTER  ·  CSI1006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Graph Neural Networks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Influence and Anomaly Detection in Complex Networks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768096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2AB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Kapoor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23MIC0023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A.M. Karthikeshwaran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23MID0215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(SCOPE)  ·  VIT Vellore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influence and anomaly detection in complex networks is hard — and where attention helps.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329184" cy="329184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27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communication, and interaction networks contain vast numbers of interconnected entities — identifying influential nodes and unusual patterns strains conventional machine learning methods.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08376"/>
            <a:ext cx="329184" cy="329184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9443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26440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centrality measures (degree, betweenness, PageRank) and generic ML baselines treat neighbors alike and offer little insight into why a node matters.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89704"/>
            <a:ext cx="329184" cy="329184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89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42569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74573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Attention Networks (GATs) learn to weigh neighbors differently — turning those attention weights into a lens for both influence ranking and anomaly detection.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1417320"/>
            <a:ext cx="4069080" cy="4709160"/>
          </a:xfrm>
          <a:prstGeom prst="roundRect">
            <a:avLst>
              <a:gd name="adj" fmla="val 1798"/>
            </a:avLst>
          </a:prstGeom>
          <a:solidFill>
            <a:srgbClr val="EE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NETWORK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H="1">
            <a:off x="8595360" y="2468880"/>
            <a:ext cx="1051560" cy="73152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46920" y="2468880"/>
            <a:ext cx="1051560" cy="73152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8229600" y="3200400"/>
            <a:ext cx="365760" cy="100584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3200400"/>
            <a:ext cx="1051560" cy="91440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9646920" y="3200400"/>
            <a:ext cx="1051560" cy="91440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98480" y="3200400"/>
            <a:ext cx="365760" cy="100584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46920" y="4114800"/>
            <a:ext cx="9144" cy="100584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4206240"/>
            <a:ext cx="1417320" cy="91440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9646920" y="4206240"/>
            <a:ext cx="1417320" cy="914400"/>
          </a:xfrm>
          <a:prstGeom prst="line">
            <a:avLst/>
          </a:prstGeom>
          <a:noFill/>
          <a:ln w="15875">
            <a:solidFill>
              <a:srgbClr val="C3CB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18904" y="2340864"/>
            <a:ext cx="256032" cy="256032"/>
          </a:xfrm>
          <a:prstGeom prst="ellipse">
            <a:avLst/>
          </a:prstGeom>
          <a:solidFill>
            <a:srgbClr val="22AB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67344" y="3072384"/>
            <a:ext cx="256032" cy="256032"/>
          </a:xfrm>
          <a:prstGeom prst="ellipse">
            <a:avLst/>
          </a:prstGeom>
          <a:solidFill>
            <a:srgbClr val="22AB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70464" y="3072384"/>
            <a:ext cx="256032" cy="256032"/>
          </a:xfrm>
          <a:prstGeom prst="ellipse">
            <a:avLst/>
          </a:prstGeom>
          <a:solidFill>
            <a:srgbClr val="22AB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1584" y="4078224"/>
            <a:ext cx="256032" cy="256032"/>
          </a:xfrm>
          <a:prstGeom prst="ellipse">
            <a:avLst/>
          </a:prstGeom>
          <a:solidFill>
            <a:srgbClr val="22AB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45752" y="3913632"/>
            <a:ext cx="402336" cy="402336"/>
          </a:xfrm>
          <a:prstGeom prst="ellipse">
            <a:avLst/>
          </a:prstGeom>
          <a:solidFill>
            <a:srgbClr val="E3A0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36224" y="4078224"/>
            <a:ext cx="256032" cy="256032"/>
          </a:xfrm>
          <a:prstGeom prst="ellipse">
            <a:avLst/>
          </a:prstGeom>
          <a:solidFill>
            <a:srgbClr val="22AB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18904" y="4992624"/>
            <a:ext cx="256032" cy="256032"/>
          </a:xfrm>
          <a:prstGeom prst="ellipse">
            <a:avLst/>
          </a:prstGeom>
          <a:solidFill>
            <a:srgbClr val="22AB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5486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node (high attention in-degree)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5779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node flagged by the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large, real-world complex network, how can a single learnable model both rank nodes by structural influence and flag anomalous behavior — while remaining interpretable and trainable on limited compute?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926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BA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8620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complex networks (social / communication / interaction) as attributed graphs suitable for attention-based learning.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7889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926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B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28620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Graph Attention Network (GAT) that learns differentiated neighbor weights per node.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77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BA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9136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learned attention weights as a unified signal for both influence ranking and anomaly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77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B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9136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classical centrality measures (degree, betweenness, PageRank) and standard ML baselines.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029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BA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9651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 using precision, recall, F1-score, ROC-AUC, and attention-based visual interpretation.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8920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5029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BA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49651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pipeline computationally efficient so it trains within limited academic compute budgets.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and recent work spanning graph representation learning, attention mechanisms, and graph-based anomaly detection.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709160"/>
        </p:xfrm>
        <a:graphic>
          <a:graphicData uri="http://schemas.openxmlformats.org/drawingml/2006/table">
            <a:tbl>
              <a:tblPr/>
              <a:tblGrid>
                <a:gridCol w="4206240"/>
                <a:gridCol w="3749040"/>
                <a:gridCol w="3291840"/>
              </a:tblGrid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/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Kipf &amp; Welling (2017) — Graph Convolutional Networks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graph convolutions for semi-supervised node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GNN baseline; uniform neighbor aggregation limits interpretability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Veličković et al. (2018) — Graph Attention Networks (GAT)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 over graph neighborhoods for node representation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architecture adopted here; attention weights offer a natural influence 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Akoglu, Tong &amp; Koutra (2015) — Graph-based Anomaly Detection Survey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 of structural and behavioral anomaly detection methods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comparing GAT-based scoring against classical structural anomaly measures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Ying et al. (2019) — GNNExplainer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 interpretability for GNN predictions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how attention-based interpretation will be validated in this project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(2022) — Attention-based Anomaly Detection on Graphs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learned attention scores directly as anomaly indicators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work; this project extends the idea to joint influence + anomaly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Newman (2010) — Networks: An Introduction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centrality measures (degree, betweenness, PageRank)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the non-learned baselines this project benchmarks against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EEF1F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tasks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170992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ranking and anomaly detection are usually modeled separately, each with its own pipeline and features — duplicating effort and losing shared structural signal.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EEF1F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718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predictions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GNN baselines often outperform classical methods but behave as black boxes, offering little explanation for why a node is ranked influential or flagged anomalous.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EEF1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5720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assumptions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491032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recent GNN literature assumes large-scale infrastructure; there is limited guidance on efficient attention-based pipelines for constrained academic settings.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1234440"/>
            <a:ext cx="4069080" cy="4892040"/>
          </a:xfrm>
          <a:prstGeom prst="roundRect">
            <a:avLst>
              <a:gd name="adj" fmla="val 1798"/>
            </a:avLst>
          </a:prstGeom>
          <a:solidFill>
            <a:srgbClr val="1C2541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POSITION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3840" y="18288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attention-driven GNN that unifies influence ranking and anomaly detection, and treats its own attention weights as the interpretability layer — validated against classical baselines under a limited compute budget.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0" y="4434840"/>
            <a:ext cx="365760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572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the work relative to Veličković et al. (GAT) and Zhang et al. (attention-based anomaly scoring).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from problem framing to an interpretable, evaluated model.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81912" y="1691640"/>
            <a:ext cx="8997696" cy="0"/>
          </a:xfrm>
          <a:prstGeom prst="line">
            <a:avLst/>
          </a:prstGeom>
          <a:noFill/>
          <a:ln w="19050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1508760"/>
            <a:ext cx="365760" cy="365760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6" name="Text 4"/>
          <p:cNvSpPr/>
          <p:nvPr/>
        </p:nvSpPr>
        <p:spPr>
          <a:xfrm>
            <a:off x="1307592" y="1508760"/>
            <a:ext cx="5486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2029968" cy="3977640"/>
          </a:xfrm>
          <a:prstGeom prst="roundRect">
            <a:avLst>
              <a:gd name="adj" fmla="val 3153"/>
            </a:avLst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288036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GAT/GNN literature; select a suitable public graph dataset for influence &amp; anomaly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48456" y="1508760"/>
            <a:ext cx="365760" cy="365760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508760"/>
            <a:ext cx="5486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16352" y="2057400"/>
            <a:ext cx="2029968" cy="3977640"/>
          </a:xfrm>
          <a:prstGeom prst="roundRect">
            <a:avLst>
              <a:gd name="adj" fmla="val 3153"/>
            </a:avLst>
          </a:prstGeom>
          <a:solidFill>
            <a:srgbClr val="EE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2962656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62656" y="288036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network as nodes and edges; clean and preprocess features and adjacency structure.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1508760"/>
            <a:ext cx="365760" cy="365760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1508760"/>
            <a:ext cx="5486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65776" y="2057400"/>
            <a:ext cx="2029968" cy="3977640"/>
          </a:xfrm>
          <a:prstGeom prst="roundRect">
            <a:avLst>
              <a:gd name="adj" fmla="val 3153"/>
            </a:avLst>
          </a:prstGeom>
          <a:solidFill>
            <a:srgbClr val="EEF1F4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Model Design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288036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attention-driven GNN; assign learned weights to neighboring nodes and relationships.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47304" y="1508760"/>
            <a:ext cx="365760" cy="365760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21" name="Text 19"/>
          <p:cNvSpPr/>
          <p:nvPr/>
        </p:nvSpPr>
        <p:spPr>
          <a:xfrm>
            <a:off x="8055864" y="1508760"/>
            <a:ext cx="5486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057400"/>
            <a:ext cx="2029968" cy="3977640"/>
          </a:xfrm>
          <a:prstGeom prst="roundRect">
            <a:avLst>
              <a:gd name="adj" fmla="val 3153"/>
            </a:avLst>
          </a:prstGeom>
          <a:solidFill>
            <a:srgbClr val="EEF1F4"/>
          </a:solidFill>
          <a:ln/>
        </p:spPr>
      </p:sp>
      <p:sp>
        <p:nvSpPr>
          <p:cNvPr id="23" name="Text 21"/>
          <p:cNvSpPr/>
          <p:nvPr/>
        </p:nvSpPr>
        <p:spPr>
          <a:xfrm>
            <a:off x="7461504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61504" y="288036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under limited compute; benchmark against centrality measures and ML baselines.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396728" y="1508760"/>
            <a:ext cx="365760" cy="365760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05288" y="1508760"/>
            <a:ext cx="5486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64624" y="2057400"/>
            <a:ext cx="2029968" cy="3977640"/>
          </a:xfrm>
          <a:prstGeom prst="roundRect">
            <a:avLst>
              <a:gd name="adj" fmla="val 3153"/>
            </a:avLst>
          </a:prstGeom>
          <a:solidFill>
            <a:srgbClr val="EEF1F4"/>
          </a:solidFill>
          <a:ln/>
        </p:spPr>
      </p:sp>
      <p:sp>
        <p:nvSpPr>
          <p:cNvPr id="28" name="Text 26"/>
          <p:cNvSpPr/>
          <p:nvPr/>
        </p:nvSpPr>
        <p:spPr>
          <a:xfrm>
            <a:off x="9710928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Report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10928" y="288036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attention weights for influence/anomaly insight; visualize and document findings.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Procedure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49240" y="1143000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chosen dataset as a graph of nodes and edges; encode node/edge features for downstream learning.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11247120" cy="0"/>
          </a:xfrm>
          <a:prstGeom prst="line">
            <a:avLst/>
          </a:prstGeom>
          <a:noFill/>
          <a:ln w="12700">
            <a:solidFill>
              <a:srgbClr val="EAED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84832"/>
            <a:ext cx="384048" cy="384048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Attention-Weighted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039112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Graph Attention Network (GAT) to learn node representations, assigning weights to neighbors and their relationships.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247120" cy="0"/>
          </a:xfrm>
          <a:prstGeom prst="line">
            <a:avLst/>
          </a:prstGeom>
          <a:noFill/>
          <a:ln w="12700">
            <a:solidFill>
              <a:srgbClr val="EAED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352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&amp; Anomaly Scoring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935224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learned attention weights to rank structurally important nodes and flag anomalous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11247120" cy="0"/>
          </a:xfrm>
          <a:prstGeom prst="line">
            <a:avLst/>
          </a:prstGeom>
          <a:noFill/>
          <a:ln w="12700">
            <a:solidFill>
              <a:srgbClr val="EAED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313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831336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against classical centrality measures (degree, betweenness, PageRank) and selected ML baselines.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43984"/>
            <a:ext cx="11247120" cy="0"/>
          </a:xfrm>
          <a:prstGeom prst="line">
            <a:avLst/>
          </a:prstGeom>
          <a:noFill/>
          <a:ln w="12700">
            <a:solidFill>
              <a:srgbClr val="EAED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773168"/>
            <a:ext cx="384048" cy="384048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7274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Interpretation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4727448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with precision, recall, F1-score, ROC-AUC, plus attention-based visualizations of what the model learned.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Evaluation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Criteria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63624"/>
            <a:ext cx="82296" cy="82296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graph with ground-truth or proxy labels for influence and/or anomalies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40864"/>
            <a:ext cx="82296" cy="82296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complex-network structure (social, communication, or interaction graph)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18104"/>
            <a:ext cx="82296" cy="82296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63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compatible with limited-compute training (sampling / mini-batching if needed)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95344"/>
            <a:ext cx="82296" cy="82296"/>
          </a:xfrm>
          <a:prstGeom prst="ellipse">
            <a:avLst/>
          </a:prstGeom>
          <a:solidFill>
            <a:srgbClr val="22ABA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404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under consideration: citation networks, social-interaction graphs, and network-intrusion / fraud graph benchmarks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0" cy="512064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EF1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819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and completeness of flagged influential / anomalous nodes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EF1F4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5877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measure combining precision and recall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52044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E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935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separability of anomalous vs. normal nodes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45262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E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5994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check that high-attention edges align with meaningful structure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betting on — and what it stands to prove.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ABA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attention mechanism can do double duty — ranking influential nodes AND flagging anomalies — without task-specific models, and stay light enough to train on limited compute.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A03E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interpretable model that matches or beats classical centrality measures and ML baselines on precision, recall, F1, and ROC-AUC, while explaining its own predictions.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9AB8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don't always align cleanly with ground-truth importance or anomaly labels — evaluation must test whether the interpretation actually holds up, not just the accuracy.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GNN for Influence &amp; Anomaly Detection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" y="859536"/>
            <a:ext cx="109728" cy="109728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26464" y="1335024"/>
            <a:ext cx="73152" cy="73152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508760"/>
            <a:ext cx="91440" cy="91440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27080" y="5715000"/>
            <a:ext cx="91440" cy="91440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93424" y="6181344"/>
            <a:ext cx="73152" cy="73152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79608" y="6007608"/>
            <a:ext cx="54864" cy="54864"/>
          </a:xfrm>
          <a:prstGeom prst="ellipse">
            <a:avLst/>
          </a:prstGeom>
          <a:solidFill>
            <a:srgbClr val="22ABA0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Kapoor (23MIC0023)  ·  A.M. Karthikeshwaran (23MID0215)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2026-09-16T09:33:12Z</dcterms:created>
  <dcterms:modified xsi:type="dcterms:W3CDTF">2026-09-16T09:33:12Z</dcterms:modified>
</cp:coreProperties>
</file>