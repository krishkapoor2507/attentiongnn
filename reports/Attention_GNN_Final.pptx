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2" d="100"/>
          <a:sy n="42" d="100"/>
        </p:scale>
        <p:origin x="64"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200" b="1"/>
              <a:t>Weibo (organic labels), n=3 seeds</a:t>
            </a:r>
          </a:p>
        </c:rich>
      </c:tx>
      <c:overlay val="0"/>
    </c:title>
    <c:autoTitleDeleted val="0"/>
    <c:plotArea>
      <c:layout/>
      <c:barChart>
        <c:barDir val="bar"/>
        <c:grouping val="clustered"/>
        <c:varyColors val="1"/>
        <c:ser>
          <c:idx val="0"/>
          <c:order val="0"/>
          <c:tx>
            <c:strRef>
              <c:f>Sheet1!$B$1</c:f>
              <c:strCache>
                <c:ptCount val="1"/>
                <c:pt idx="0">
                  <c:v>ROC-AUC</c:v>
                </c:pt>
              </c:strCache>
            </c:strRef>
          </c:tx>
          <c:spPr>
            <a:solidFill>
              <a:srgbClr val="13808B"/>
            </a:solidFill>
          </c:spPr>
          <c:invertIfNegative val="0"/>
          <c:dPt>
            <c:idx val="0"/>
            <c:invertIfNegative val="0"/>
            <c:bubble3D val="0"/>
            <c:spPr>
              <a:solidFill>
                <a:srgbClr val="8D99AE"/>
              </a:solidFill>
            </c:spPr>
            <c:extLst>
              <c:ext xmlns:c16="http://schemas.microsoft.com/office/drawing/2014/chart" uri="{C3380CC4-5D6E-409C-BE32-E72D297353CC}">
                <c16:uniqueId val="{00000001-37F4-4D3E-8013-5EEA868C67C9}"/>
              </c:ext>
            </c:extLst>
          </c:dPt>
          <c:dPt>
            <c:idx val="1"/>
            <c:invertIfNegative val="0"/>
            <c:bubble3D val="0"/>
            <c:spPr>
              <a:solidFill>
                <a:srgbClr val="8D99AE"/>
              </a:solidFill>
            </c:spPr>
            <c:extLst>
              <c:ext xmlns:c16="http://schemas.microsoft.com/office/drawing/2014/chart" uri="{C3380CC4-5D6E-409C-BE32-E72D297353CC}">
                <c16:uniqueId val="{00000003-37F4-4D3E-8013-5EEA868C67C9}"/>
              </c:ext>
            </c:extLst>
          </c:dPt>
          <c:dPt>
            <c:idx val="2"/>
            <c:invertIfNegative val="0"/>
            <c:bubble3D val="0"/>
            <c:spPr>
              <a:solidFill>
                <a:srgbClr val="0B2545"/>
              </a:solidFill>
            </c:spPr>
            <c:extLst>
              <c:ext xmlns:c16="http://schemas.microsoft.com/office/drawing/2014/chart" uri="{C3380CC4-5D6E-409C-BE32-E72D297353CC}">
                <c16:uniqueId val="{00000005-37F4-4D3E-8013-5EEA868C67C9}"/>
              </c:ext>
            </c:extLst>
          </c:dPt>
          <c:dPt>
            <c:idx val="3"/>
            <c:invertIfNegative val="0"/>
            <c:bubble3D val="0"/>
            <c:extLst>
              <c:ext xmlns:c16="http://schemas.microsoft.com/office/drawing/2014/chart" uri="{C3380CC4-5D6E-409C-BE32-E72D297353CC}">
                <c16:uniqueId val="{00000007-37F4-4D3E-8013-5EEA868C67C9}"/>
              </c:ext>
            </c:extLst>
          </c:dPt>
          <c:dPt>
            <c:idx val="4"/>
            <c:invertIfNegative val="0"/>
            <c:bubble3D val="0"/>
            <c:extLst>
              <c:ext xmlns:c16="http://schemas.microsoft.com/office/drawing/2014/chart" uri="{C3380CC4-5D6E-409C-BE32-E72D297353CC}">
                <c16:uniqueId val="{00000009-37F4-4D3E-8013-5EEA868C67C9}"/>
              </c:ext>
            </c:extLst>
          </c:dPt>
          <c:dPt>
            <c:idx val="5"/>
            <c:invertIfNegative val="0"/>
            <c:bubble3D val="0"/>
            <c:spPr>
              <a:solidFill>
                <a:srgbClr val="E9C46A"/>
              </a:solidFill>
            </c:spPr>
            <c:extLst>
              <c:ext xmlns:c16="http://schemas.microsoft.com/office/drawing/2014/chart" uri="{C3380CC4-5D6E-409C-BE32-E72D297353CC}">
                <c16:uniqueId val="{0000000B-37F4-4D3E-8013-5EEA868C67C9}"/>
              </c:ext>
            </c:extLst>
          </c:dPt>
          <c:dLbls>
            <c:numFmt formatCode="0.00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Isolation Forest</c:v>
                </c:pt>
                <c:pt idx="1">
                  <c:v>GCN rec. (DOMINANT-style)</c:v>
                </c:pt>
                <c:pt idx="2">
                  <c:v>GAT reconstruction</c:v>
                </c:pt>
                <c:pt idx="3">
                  <c:v>GAT attention-only</c:v>
                </c:pt>
                <c:pt idx="4">
                  <c:v>GAT combined</c:v>
                </c:pt>
                <c:pt idx="5">
                  <c:v>Uniform-neighbour control</c:v>
                </c:pt>
              </c:strCache>
            </c:strRef>
          </c:cat>
          <c:val>
            <c:numRef>
              <c:f>Sheet1!$B$2:$B$7</c:f>
              <c:numCache>
                <c:formatCode>General</c:formatCode>
                <c:ptCount val="6"/>
                <c:pt idx="0">
                  <c:v>0.45800000000000002</c:v>
                </c:pt>
                <c:pt idx="1">
                  <c:v>0.79100000000000004</c:v>
                </c:pt>
                <c:pt idx="2">
                  <c:v>0.77100000000000002</c:v>
                </c:pt>
                <c:pt idx="3">
                  <c:v>0.60899999999999999</c:v>
                </c:pt>
                <c:pt idx="4">
                  <c:v>0.71399999999999997</c:v>
                </c:pt>
                <c:pt idx="5">
                  <c:v>0.63</c:v>
                </c:pt>
              </c:numCache>
            </c:numRef>
          </c:val>
          <c:extLst>
            <c:ext xmlns:c16="http://schemas.microsoft.com/office/drawing/2014/chart" uri="{C3380CC4-5D6E-409C-BE32-E72D297353CC}">
              <c16:uniqueId val="{0000000C-37F4-4D3E-8013-5EEA868C67C9}"/>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low"/>
        <c:spPr>
          <a:ln>
            <a:solidFill>
              <a:srgbClr val="5B6878"/>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
          <c:min val="0.4"/>
        </c:scaling>
        <c:delete val="0"/>
        <c:axPos val="t"/>
        <c:majorGridlines>
          <c:spPr>
            <a:ln>
              <a:solidFill>
                <a:srgbClr val="E6EEF3"/>
              </a:solidFill>
            </a:ln>
          </c:spPr>
        </c:majorGridlines>
        <c:numFmt formatCode="General" sourceLinked="1"/>
        <c:majorTickMark val="out"/>
        <c:minorTickMark val="none"/>
        <c:tickLblPos val="nextTo"/>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200" b="1"/>
              <a:t>Cora (injected labels), n=5 seeds</a:t>
            </a:r>
          </a:p>
        </c:rich>
      </c:tx>
      <c:overlay val="0"/>
    </c:title>
    <c:autoTitleDeleted val="0"/>
    <c:plotArea>
      <c:layout/>
      <c:barChart>
        <c:barDir val="bar"/>
        <c:grouping val="clustered"/>
        <c:varyColors val="1"/>
        <c:ser>
          <c:idx val="0"/>
          <c:order val="0"/>
          <c:tx>
            <c:strRef>
              <c:f>Sheet1!$B$1</c:f>
              <c:strCache>
                <c:ptCount val="1"/>
                <c:pt idx="0">
                  <c:v>ROC-AUC</c:v>
                </c:pt>
              </c:strCache>
            </c:strRef>
          </c:tx>
          <c:spPr>
            <a:solidFill>
              <a:srgbClr val="13808B"/>
            </a:solidFill>
          </c:spPr>
          <c:invertIfNegative val="0"/>
          <c:dPt>
            <c:idx val="0"/>
            <c:invertIfNegative val="0"/>
            <c:bubble3D val="0"/>
            <c:spPr>
              <a:solidFill>
                <a:srgbClr val="8D99AE"/>
              </a:solidFill>
            </c:spPr>
            <c:extLst>
              <c:ext xmlns:c16="http://schemas.microsoft.com/office/drawing/2014/chart" uri="{C3380CC4-5D6E-409C-BE32-E72D297353CC}">
                <c16:uniqueId val="{00000001-7A1B-4247-B7BB-DA9C9986ADE1}"/>
              </c:ext>
            </c:extLst>
          </c:dPt>
          <c:dPt>
            <c:idx val="1"/>
            <c:invertIfNegative val="0"/>
            <c:bubble3D val="0"/>
            <c:spPr>
              <a:solidFill>
                <a:srgbClr val="8D99AE"/>
              </a:solidFill>
            </c:spPr>
            <c:extLst>
              <c:ext xmlns:c16="http://schemas.microsoft.com/office/drawing/2014/chart" uri="{C3380CC4-5D6E-409C-BE32-E72D297353CC}">
                <c16:uniqueId val="{00000003-7A1B-4247-B7BB-DA9C9986ADE1}"/>
              </c:ext>
            </c:extLst>
          </c:dPt>
          <c:dPt>
            <c:idx val="2"/>
            <c:invertIfNegative val="0"/>
            <c:bubble3D val="0"/>
            <c:spPr>
              <a:solidFill>
                <a:srgbClr val="0B2545"/>
              </a:solidFill>
            </c:spPr>
            <c:extLst>
              <c:ext xmlns:c16="http://schemas.microsoft.com/office/drawing/2014/chart" uri="{C3380CC4-5D6E-409C-BE32-E72D297353CC}">
                <c16:uniqueId val="{00000005-7A1B-4247-B7BB-DA9C9986ADE1}"/>
              </c:ext>
            </c:extLst>
          </c:dPt>
          <c:dPt>
            <c:idx val="3"/>
            <c:invertIfNegative val="0"/>
            <c:bubble3D val="0"/>
            <c:extLst>
              <c:ext xmlns:c16="http://schemas.microsoft.com/office/drawing/2014/chart" uri="{C3380CC4-5D6E-409C-BE32-E72D297353CC}">
                <c16:uniqueId val="{00000007-7A1B-4247-B7BB-DA9C9986ADE1}"/>
              </c:ext>
            </c:extLst>
          </c:dPt>
          <c:dPt>
            <c:idx val="4"/>
            <c:invertIfNegative val="0"/>
            <c:bubble3D val="0"/>
            <c:extLst>
              <c:ext xmlns:c16="http://schemas.microsoft.com/office/drawing/2014/chart" uri="{C3380CC4-5D6E-409C-BE32-E72D297353CC}">
                <c16:uniqueId val="{00000009-7A1B-4247-B7BB-DA9C9986ADE1}"/>
              </c:ext>
            </c:extLst>
          </c:dPt>
          <c:dPt>
            <c:idx val="5"/>
            <c:invertIfNegative val="0"/>
            <c:bubble3D val="0"/>
            <c:spPr>
              <a:solidFill>
                <a:srgbClr val="E9C46A"/>
              </a:solidFill>
            </c:spPr>
            <c:extLst>
              <c:ext xmlns:c16="http://schemas.microsoft.com/office/drawing/2014/chart" uri="{C3380CC4-5D6E-409C-BE32-E72D297353CC}">
                <c16:uniqueId val="{0000000B-7A1B-4247-B7BB-DA9C9986ADE1}"/>
              </c:ext>
            </c:extLst>
          </c:dPt>
          <c:dLbls>
            <c:numFmt formatCode="0.00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Isolation Forest</c:v>
                </c:pt>
                <c:pt idx="1">
                  <c:v>GCN rec. (DOMINANT-style)</c:v>
                </c:pt>
                <c:pt idx="2">
                  <c:v>GAT reconstruction</c:v>
                </c:pt>
                <c:pt idx="3">
                  <c:v>GAT attention-only</c:v>
                </c:pt>
                <c:pt idx="4">
                  <c:v>GAT combined</c:v>
                </c:pt>
                <c:pt idx="5">
                  <c:v>Uniform-neighbour control</c:v>
                </c:pt>
              </c:strCache>
            </c:strRef>
          </c:cat>
          <c:val>
            <c:numRef>
              <c:f>Sheet1!$B$2:$B$7</c:f>
              <c:numCache>
                <c:formatCode>General</c:formatCode>
                <c:ptCount val="6"/>
                <c:pt idx="0">
                  <c:v>0.67600000000000005</c:v>
                </c:pt>
                <c:pt idx="1">
                  <c:v>0.76500000000000001</c:v>
                </c:pt>
                <c:pt idx="2">
                  <c:v>0.77100000000000002</c:v>
                </c:pt>
                <c:pt idx="3">
                  <c:v>0.79600000000000004</c:v>
                </c:pt>
                <c:pt idx="4">
                  <c:v>0.79800000000000004</c:v>
                </c:pt>
                <c:pt idx="5">
                  <c:v>0.79</c:v>
                </c:pt>
              </c:numCache>
            </c:numRef>
          </c:val>
          <c:extLst>
            <c:ext xmlns:c16="http://schemas.microsoft.com/office/drawing/2014/chart" uri="{C3380CC4-5D6E-409C-BE32-E72D297353CC}">
              <c16:uniqueId val="{0000000C-7A1B-4247-B7BB-DA9C9986ADE1}"/>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low"/>
        <c:spPr>
          <a:ln>
            <a:solidFill>
              <a:srgbClr val="5B6878"/>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
          <c:min val="0.4"/>
        </c:scaling>
        <c:delete val="0"/>
        <c:axPos val="t"/>
        <c:majorGridlines>
          <c:spPr>
            <a:ln>
              <a:solidFill>
                <a:srgbClr val="E6EEF3"/>
              </a:solidFill>
            </a:ln>
          </c:spPr>
        </c:majorGridlines>
        <c:numFmt formatCode="General" sourceLinked="1"/>
        <c:majorTickMark val="out"/>
        <c:minorTickMark val="none"/>
        <c:tickLblPos val="nextTo"/>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200" b="1"/>
              <a:t>Weibo (p=0.003), n=3 seeds</a:t>
            </a:r>
          </a:p>
        </c:rich>
      </c:tx>
      <c:overlay val="0"/>
    </c:title>
    <c:autoTitleDeleted val="0"/>
    <c:plotArea>
      <c:layout/>
      <c:barChart>
        <c:barDir val="bar"/>
        <c:grouping val="clustered"/>
        <c:varyColors val="1"/>
        <c:ser>
          <c:idx val="0"/>
          <c:order val="0"/>
          <c:tx>
            <c:strRef>
              <c:f>Sheet1!$B$1</c:f>
              <c:strCache>
                <c:ptCount val="1"/>
                <c:pt idx="0">
                  <c:v>Spearman</c:v>
                </c:pt>
              </c:strCache>
            </c:strRef>
          </c:tx>
          <c:spPr>
            <a:solidFill>
              <a:srgbClr val="13808B"/>
            </a:solidFill>
          </c:spPr>
          <c:invertIfNegative val="0"/>
          <c:dPt>
            <c:idx val="0"/>
            <c:invertIfNegative val="0"/>
            <c:bubble3D val="0"/>
            <c:spPr>
              <a:solidFill>
                <a:srgbClr val="8D99AE"/>
              </a:solidFill>
            </c:spPr>
            <c:extLst>
              <c:ext xmlns:c16="http://schemas.microsoft.com/office/drawing/2014/chart" uri="{C3380CC4-5D6E-409C-BE32-E72D297353CC}">
                <c16:uniqueId val="{00000001-289B-48DE-A575-0F6810304635}"/>
              </c:ext>
            </c:extLst>
          </c:dPt>
          <c:dPt>
            <c:idx val="1"/>
            <c:invertIfNegative val="0"/>
            <c:bubble3D val="0"/>
            <c:spPr>
              <a:solidFill>
                <a:srgbClr val="8D99AE"/>
              </a:solidFill>
            </c:spPr>
            <c:extLst>
              <c:ext xmlns:c16="http://schemas.microsoft.com/office/drawing/2014/chart" uri="{C3380CC4-5D6E-409C-BE32-E72D297353CC}">
                <c16:uniqueId val="{00000003-289B-48DE-A575-0F6810304635}"/>
              </c:ext>
            </c:extLst>
          </c:dPt>
          <c:dPt>
            <c:idx val="2"/>
            <c:invertIfNegative val="0"/>
            <c:bubble3D val="0"/>
            <c:spPr>
              <a:solidFill>
                <a:srgbClr val="8D99AE"/>
              </a:solidFill>
            </c:spPr>
            <c:extLst>
              <c:ext xmlns:c16="http://schemas.microsoft.com/office/drawing/2014/chart" uri="{C3380CC4-5D6E-409C-BE32-E72D297353CC}">
                <c16:uniqueId val="{00000005-289B-48DE-A575-0F6810304635}"/>
              </c:ext>
            </c:extLst>
          </c:dPt>
          <c:dPt>
            <c:idx val="3"/>
            <c:invertIfNegative val="0"/>
            <c:bubble3D val="0"/>
            <c:spPr>
              <a:solidFill>
                <a:srgbClr val="E9C46A"/>
              </a:solidFill>
            </c:spPr>
            <c:extLst>
              <c:ext xmlns:c16="http://schemas.microsoft.com/office/drawing/2014/chart" uri="{C3380CC4-5D6E-409C-BE32-E72D297353CC}">
                <c16:uniqueId val="{00000007-289B-48DE-A575-0F6810304635}"/>
              </c:ext>
            </c:extLst>
          </c:dPt>
          <c:dPt>
            <c:idx val="4"/>
            <c:invertIfNegative val="0"/>
            <c:bubble3D val="0"/>
            <c:extLst>
              <c:ext xmlns:c16="http://schemas.microsoft.com/office/drawing/2014/chart" uri="{C3380CC4-5D6E-409C-BE32-E72D297353CC}">
                <c16:uniqueId val="{00000009-289B-48DE-A575-0F6810304635}"/>
              </c:ext>
            </c:extLst>
          </c:dPt>
          <c:dPt>
            <c:idx val="5"/>
            <c:invertIfNegative val="0"/>
            <c:bubble3D val="0"/>
            <c:extLst>
              <c:ext xmlns:c16="http://schemas.microsoft.com/office/drawing/2014/chart" uri="{C3380CC4-5D6E-409C-BE32-E72D297353CC}">
                <c16:uniqueId val="{0000000B-289B-48DE-A575-0F6810304635}"/>
              </c:ext>
            </c:extLst>
          </c:dPt>
          <c:dPt>
            <c:idx val="6"/>
            <c:invertIfNegative val="0"/>
            <c:bubble3D val="0"/>
            <c:spPr>
              <a:solidFill>
                <a:srgbClr val="0B2545"/>
              </a:solidFill>
            </c:spPr>
            <c:extLst>
              <c:ext xmlns:c16="http://schemas.microsoft.com/office/drawing/2014/chart" uri="{C3380CC4-5D6E-409C-BE32-E72D297353CC}">
                <c16:uniqueId val="{0000000D-289B-48DE-A575-0F6810304635}"/>
              </c:ext>
            </c:extLst>
          </c:dPt>
          <c:dPt>
            <c:idx val="7"/>
            <c:invertIfNegative val="0"/>
            <c:bubble3D val="0"/>
            <c:spPr>
              <a:solidFill>
                <a:srgbClr val="0B2545"/>
              </a:solidFill>
            </c:spPr>
            <c:extLst>
              <c:ext xmlns:c16="http://schemas.microsoft.com/office/drawing/2014/chart" uri="{C3380CC4-5D6E-409C-BE32-E72D297353CC}">
                <c16:uniqueId val="{0000000F-289B-48DE-A575-0F6810304635}"/>
              </c:ext>
            </c:extLst>
          </c:dPt>
          <c:dLbls>
            <c:numFmt formatCode="0.0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Degree</c:v>
                </c:pt>
                <c:pt idx="1">
                  <c:v>PageRank</c:v>
                </c:pt>
                <c:pt idx="2">
                  <c:v>Betweenness</c:v>
                </c:pt>
                <c:pt idx="3">
                  <c:v>Uniform attention (control)</c:v>
                </c:pt>
                <c:pt idx="4">
                  <c:v>GAT received attention</c:v>
                </c:pt>
                <c:pt idx="5">
                  <c:v>  degree-adjusted</c:v>
                </c:pt>
                <c:pt idx="6">
                  <c:v>GCN influence head</c:v>
                </c:pt>
                <c:pt idx="7">
                  <c:v>GAT influence head</c:v>
                </c:pt>
              </c:strCache>
            </c:strRef>
          </c:cat>
          <c:val>
            <c:numRef>
              <c:f>Sheet1!$B$2:$B$9</c:f>
              <c:numCache>
                <c:formatCode>General</c:formatCode>
                <c:ptCount val="8"/>
                <c:pt idx="0">
                  <c:v>0.629</c:v>
                </c:pt>
                <c:pt idx="1">
                  <c:v>0.41799999999999998</c:v>
                </c:pt>
                <c:pt idx="2">
                  <c:v>0.186</c:v>
                </c:pt>
                <c:pt idx="3">
                  <c:v>0.109</c:v>
                </c:pt>
                <c:pt idx="4">
                  <c:v>-0.19800000000000001</c:v>
                </c:pt>
                <c:pt idx="5">
                  <c:v>-0.42499999999999999</c:v>
                </c:pt>
                <c:pt idx="6">
                  <c:v>0.88900000000000001</c:v>
                </c:pt>
                <c:pt idx="7">
                  <c:v>0.40200000000000002</c:v>
                </c:pt>
              </c:numCache>
            </c:numRef>
          </c:val>
          <c:extLst>
            <c:ext xmlns:c16="http://schemas.microsoft.com/office/drawing/2014/chart" uri="{C3380CC4-5D6E-409C-BE32-E72D297353CC}">
              <c16:uniqueId val="{00000010-289B-48DE-A575-0F6810304635}"/>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low"/>
        <c:spPr>
          <a:ln>
            <a:solidFill>
              <a:srgbClr val="5B6878"/>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
          <c:min val="-0.7"/>
        </c:scaling>
        <c:delete val="0"/>
        <c:axPos val="t"/>
        <c:majorGridlines>
          <c:spPr>
            <a:ln>
              <a:solidFill>
                <a:srgbClr val="E6EEF3"/>
              </a:solidFill>
            </a:ln>
          </c:spPr>
        </c:majorGridlines>
        <c:numFmt formatCode="General" sourceLinked="1"/>
        <c:majorTickMark val="out"/>
        <c:minorTickMark val="none"/>
        <c:tickLblPos val="nextTo"/>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200" b="1"/>
              <a:t>Cora (p=0.1), n=5 seeds</a:t>
            </a:r>
          </a:p>
        </c:rich>
      </c:tx>
      <c:overlay val="0"/>
    </c:title>
    <c:autoTitleDeleted val="0"/>
    <c:plotArea>
      <c:layout/>
      <c:barChart>
        <c:barDir val="bar"/>
        <c:grouping val="clustered"/>
        <c:varyColors val="1"/>
        <c:ser>
          <c:idx val="0"/>
          <c:order val="0"/>
          <c:tx>
            <c:strRef>
              <c:f>Sheet1!$B$1</c:f>
              <c:strCache>
                <c:ptCount val="1"/>
                <c:pt idx="0">
                  <c:v>Spearman</c:v>
                </c:pt>
              </c:strCache>
            </c:strRef>
          </c:tx>
          <c:spPr>
            <a:solidFill>
              <a:srgbClr val="13808B"/>
            </a:solidFill>
          </c:spPr>
          <c:invertIfNegative val="0"/>
          <c:dPt>
            <c:idx val="0"/>
            <c:invertIfNegative val="0"/>
            <c:bubble3D val="0"/>
            <c:spPr>
              <a:solidFill>
                <a:srgbClr val="8D99AE"/>
              </a:solidFill>
            </c:spPr>
            <c:extLst>
              <c:ext xmlns:c16="http://schemas.microsoft.com/office/drawing/2014/chart" uri="{C3380CC4-5D6E-409C-BE32-E72D297353CC}">
                <c16:uniqueId val="{00000001-FDDB-4FCD-8995-1866F2ABF724}"/>
              </c:ext>
            </c:extLst>
          </c:dPt>
          <c:dPt>
            <c:idx val="1"/>
            <c:invertIfNegative val="0"/>
            <c:bubble3D val="0"/>
            <c:spPr>
              <a:solidFill>
                <a:srgbClr val="8D99AE"/>
              </a:solidFill>
            </c:spPr>
            <c:extLst>
              <c:ext xmlns:c16="http://schemas.microsoft.com/office/drawing/2014/chart" uri="{C3380CC4-5D6E-409C-BE32-E72D297353CC}">
                <c16:uniqueId val="{00000003-FDDB-4FCD-8995-1866F2ABF724}"/>
              </c:ext>
            </c:extLst>
          </c:dPt>
          <c:dPt>
            <c:idx val="2"/>
            <c:invertIfNegative val="0"/>
            <c:bubble3D val="0"/>
            <c:spPr>
              <a:solidFill>
                <a:srgbClr val="8D99AE"/>
              </a:solidFill>
            </c:spPr>
            <c:extLst>
              <c:ext xmlns:c16="http://schemas.microsoft.com/office/drawing/2014/chart" uri="{C3380CC4-5D6E-409C-BE32-E72D297353CC}">
                <c16:uniqueId val="{00000005-FDDB-4FCD-8995-1866F2ABF724}"/>
              </c:ext>
            </c:extLst>
          </c:dPt>
          <c:dPt>
            <c:idx val="3"/>
            <c:invertIfNegative val="0"/>
            <c:bubble3D val="0"/>
            <c:spPr>
              <a:solidFill>
                <a:srgbClr val="E9C46A"/>
              </a:solidFill>
            </c:spPr>
            <c:extLst>
              <c:ext xmlns:c16="http://schemas.microsoft.com/office/drawing/2014/chart" uri="{C3380CC4-5D6E-409C-BE32-E72D297353CC}">
                <c16:uniqueId val="{00000007-FDDB-4FCD-8995-1866F2ABF724}"/>
              </c:ext>
            </c:extLst>
          </c:dPt>
          <c:dPt>
            <c:idx val="4"/>
            <c:invertIfNegative val="0"/>
            <c:bubble3D val="0"/>
            <c:extLst>
              <c:ext xmlns:c16="http://schemas.microsoft.com/office/drawing/2014/chart" uri="{C3380CC4-5D6E-409C-BE32-E72D297353CC}">
                <c16:uniqueId val="{00000009-FDDB-4FCD-8995-1866F2ABF724}"/>
              </c:ext>
            </c:extLst>
          </c:dPt>
          <c:dPt>
            <c:idx val="5"/>
            <c:invertIfNegative val="0"/>
            <c:bubble3D val="0"/>
            <c:extLst>
              <c:ext xmlns:c16="http://schemas.microsoft.com/office/drawing/2014/chart" uri="{C3380CC4-5D6E-409C-BE32-E72D297353CC}">
                <c16:uniqueId val="{0000000B-FDDB-4FCD-8995-1866F2ABF724}"/>
              </c:ext>
            </c:extLst>
          </c:dPt>
          <c:dPt>
            <c:idx val="6"/>
            <c:invertIfNegative val="0"/>
            <c:bubble3D val="0"/>
            <c:spPr>
              <a:solidFill>
                <a:srgbClr val="0B2545"/>
              </a:solidFill>
            </c:spPr>
            <c:extLst>
              <c:ext xmlns:c16="http://schemas.microsoft.com/office/drawing/2014/chart" uri="{C3380CC4-5D6E-409C-BE32-E72D297353CC}">
                <c16:uniqueId val="{0000000D-FDDB-4FCD-8995-1866F2ABF724}"/>
              </c:ext>
            </c:extLst>
          </c:dPt>
          <c:dPt>
            <c:idx val="7"/>
            <c:invertIfNegative val="0"/>
            <c:bubble3D val="0"/>
            <c:spPr>
              <a:solidFill>
                <a:srgbClr val="0B2545"/>
              </a:solidFill>
            </c:spPr>
            <c:extLst>
              <c:ext xmlns:c16="http://schemas.microsoft.com/office/drawing/2014/chart" uri="{C3380CC4-5D6E-409C-BE32-E72D297353CC}">
                <c16:uniqueId val="{0000000F-FDDB-4FCD-8995-1866F2ABF724}"/>
              </c:ext>
            </c:extLst>
          </c:dPt>
          <c:dLbls>
            <c:numFmt formatCode="0.0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Degree</c:v>
                </c:pt>
                <c:pt idx="1">
                  <c:v>PageRank</c:v>
                </c:pt>
                <c:pt idx="2">
                  <c:v>Betweenness</c:v>
                </c:pt>
                <c:pt idx="3">
                  <c:v>Uniform attention (control)</c:v>
                </c:pt>
                <c:pt idx="4">
                  <c:v>GAT received attention</c:v>
                </c:pt>
                <c:pt idx="5">
                  <c:v>  degree-adjusted</c:v>
                </c:pt>
                <c:pt idx="6">
                  <c:v>GCN influence head</c:v>
                </c:pt>
                <c:pt idx="7">
                  <c:v>GAT influence head</c:v>
                </c:pt>
              </c:strCache>
            </c:strRef>
          </c:cat>
          <c:val>
            <c:numRef>
              <c:f>Sheet1!$B$2:$B$9</c:f>
              <c:numCache>
                <c:formatCode>General</c:formatCode>
                <c:ptCount val="8"/>
                <c:pt idx="0">
                  <c:v>0.752</c:v>
                </c:pt>
                <c:pt idx="1">
                  <c:v>0.46700000000000003</c:v>
                </c:pt>
                <c:pt idx="2">
                  <c:v>0.63900000000000001</c:v>
                </c:pt>
                <c:pt idx="3">
                  <c:v>0.33500000000000002</c:v>
                </c:pt>
                <c:pt idx="4">
                  <c:v>0.33500000000000002</c:v>
                </c:pt>
                <c:pt idx="5">
                  <c:v>-0.50700000000000001</c:v>
                </c:pt>
                <c:pt idx="6">
                  <c:v>0.73199999999999998</c:v>
                </c:pt>
                <c:pt idx="7">
                  <c:v>0.64800000000000002</c:v>
                </c:pt>
              </c:numCache>
            </c:numRef>
          </c:val>
          <c:extLst>
            <c:ext xmlns:c16="http://schemas.microsoft.com/office/drawing/2014/chart" uri="{C3380CC4-5D6E-409C-BE32-E72D297353CC}">
              <c16:uniqueId val="{00000010-FDDB-4FCD-8995-1866F2ABF724}"/>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low"/>
        <c:spPr>
          <a:ln>
            <a:solidFill>
              <a:srgbClr val="5B6878"/>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
          <c:min val="-0.7"/>
        </c:scaling>
        <c:delete val="0"/>
        <c:axPos val="t"/>
        <c:majorGridlines>
          <c:spPr>
            <a:ln>
              <a:solidFill>
                <a:srgbClr val="E6EEF3"/>
              </a:solidFill>
            </a:ln>
          </c:spPr>
        </c:majorGridlines>
        <c:numFmt formatCode="General" sourceLinked="1"/>
        <c:majorTickMark val="out"/>
        <c:minorTickMark val="none"/>
        <c:tickLblPos val="nextTo"/>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1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100" b="1"/>
              <a:t>Output drop after edge removal</a:t>
            </a:r>
          </a:p>
        </c:rich>
      </c:tx>
      <c:overlay val="0"/>
    </c:title>
    <c:autoTitleDeleted val="0"/>
    <c:plotArea>
      <c:layout/>
      <c:barChart>
        <c:barDir val="col"/>
        <c:grouping val="clustered"/>
        <c:varyColors val="1"/>
        <c:ser>
          <c:idx val="0"/>
          <c:order val="0"/>
          <c:tx>
            <c:strRef>
              <c:f>Sheet1!$B$1</c:f>
              <c:strCache>
                <c:ptCount val="1"/>
                <c:pt idx="0">
                  <c:v>Cora anomaly</c:v>
                </c:pt>
              </c:strCache>
            </c:strRef>
          </c:tx>
          <c:spPr>
            <a:solidFill>
              <a:srgbClr val="13808B"/>
            </a:solidFill>
          </c:spPr>
          <c:invertIfNegative val="0"/>
          <c:dLbls>
            <c:numFmt formatCode="0.0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high attention</c:v>
                </c:pt>
                <c:pt idx="1">
                  <c:v>random</c:v>
                </c:pt>
                <c:pt idx="2">
                  <c:v>low attention</c:v>
                </c:pt>
              </c:strCache>
            </c:strRef>
          </c:cat>
          <c:val>
            <c:numRef>
              <c:f>Sheet1!$B$2:$B$4</c:f>
              <c:numCache>
                <c:formatCode>General</c:formatCode>
                <c:ptCount val="3"/>
                <c:pt idx="0">
                  <c:v>1.6500000000000001E-2</c:v>
                </c:pt>
                <c:pt idx="1">
                  <c:v>-2.5000000000000001E-3</c:v>
                </c:pt>
                <c:pt idx="2">
                  <c:v>-8.2000000000000007E-3</c:v>
                </c:pt>
              </c:numCache>
            </c:numRef>
          </c:val>
          <c:extLst>
            <c:ext xmlns:c16="http://schemas.microsoft.com/office/drawing/2014/chart" uri="{C3380CC4-5D6E-409C-BE32-E72D297353CC}">
              <c16:uniqueId val="{00000000-B868-468E-8215-644C8898BB14}"/>
            </c:ext>
          </c:extLst>
        </c:ser>
        <c:ser>
          <c:idx val="1"/>
          <c:order val="1"/>
          <c:tx>
            <c:strRef>
              <c:f>Sheet1!$C$1</c:f>
              <c:strCache>
                <c:ptCount val="1"/>
                <c:pt idx="0">
                  <c:v>Weibo anomaly</c:v>
                </c:pt>
              </c:strCache>
            </c:strRef>
          </c:tx>
          <c:spPr>
            <a:solidFill>
              <a:srgbClr val="0B2545"/>
            </a:solidFill>
          </c:spPr>
          <c:invertIfNegative val="0"/>
          <c:dLbls>
            <c:numFmt formatCode="0.0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high attention</c:v>
                </c:pt>
                <c:pt idx="1">
                  <c:v>random</c:v>
                </c:pt>
                <c:pt idx="2">
                  <c:v>low attention</c:v>
                </c:pt>
              </c:strCache>
            </c:strRef>
          </c:cat>
          <c:val>
            <c:numRef>
              <c:f>Sheet1!$C$2:$C$4</c:f>
              <c:numCache>
                <c:formatCode>General</c:formatCode>
                <c:ptCount val="3"/>
                <c:pt idx="0">
                  <c:v>6.5000000000000002E-2</c:v>
                </c:pt>
                <c:pt idx="1">
                  <c:v>-1.6000000000000001E-3</c:v>
                </c:pt>
                <c:pt idx="2">
                  <c:v>-1.77E-2</c:v>
                </c:pt>
              </c:numCache>
            </c:numRef>
          </c:val>
          <c:extLst>
            <c:ext xmlns:c16="http://schemas.microsoft.com/office/drawing/2014/chart" uri="{C3380CC4-5D6E-409C-BE32-E72D297353CC}">
              <c16:uniqueId val="{00000001-B868-468E-8215-644C8898BB14}"/>
            </c:ext>
          </c:extLst>
        </c:ser>
        <c:ser>
          <c:idx val="2"/>
          <c:order val="2"/>
          <c:tx>
            <c:strRef>
              <c:f>Sheet1!$D$1</c:f>
              <c:strCache>
                <c:ptCount val="1"/>
                <c:pt idx="0">
                  <c:v>Weibo influence</c:v>
                </c:pt>
              </c:strCache>
            </c:strRef>
          </c:tx>
          <c:spPr>
            <a:solidFill>
              <a:srgbClr val="D9822B"/>
            </a:solidFill>
          </c:spPr>
          <c:invertIfNegative val="0"/>
          <c:dLbls>
            <c:numFmt formatCode="0.0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high attention</c:v>
                </c:pt>
                <c:pt idx="1">
                  <c:v>random</c:v>
                </c:pt>
                <c:pt idx="2">
                  <c:v>low attention</c:v>
                </c:pt>
              </c:strCache>
            </c:strRef>
          </c:cat>
          <c:val>
            <c:numRef>
              <c:f>Sheet1!$D$2:$D$4</c:f>
              <c:numCache>
                <c:formatCode>General</c:formatCode>
                <c:ptCount val="3"/>
                <c:pt idx="0">
                  <c:v>0.33169999999999999</c:v>
                </c:pt>
                <c:pt idx="1">
                  <c:v>3.39E-2</c:v>
                </c:pt>
                <c:pt idx="2">
                  <c:v>4.0000000000000002E-4</c:v>
                </c:pt>
              </c:numCache>
            </c:numRef>
          </c:val>
          <c:extLst>
            <c:ext xmlns:c16="http://schemas.microsoft.com/office/drawing/2014/chart" uri="{C3380CC4-5D6E-409C-BE32-E72D297353CC}">
              <c16:uniqueId val="{00000002-B868-468E-8215-644C8898BB14}"/>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5B6878"/>
            </a:solidFill>
          </a:ln>
        </c:spPr>
        <c:txPr>
          <a:bodyPr/>
          <a:lstStyle/>
          <a:p>
            <a:pPr>
              <a:defRPr sz="1000"/>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6EEF3"/>
              </a:solidFill>
            </a:ln>
          </c:spPr>
        </c:majorGridlines>
        <c:numFmt formatCode="General" sourceLinked="1"/>
        <c:majorTickMark val="out"/>
        <c:minorTickMark val="none"/>
        <c:tickLblPos val="nextTo"/>
        <c:spPr>
          <a:ln>
            <a:noFill/>
          </a:ln>
        </c:spPr>
        <c:txPr>
          <a:bodyPr/>
          <a:lstStyle/>
          <a:p>
            <a:pPr>
              <a:defRPr sz="1000"/>
            </a:pPr>
            <a:endParaRPr lang="en-US"/>
          </a:p>
        </c:txPr>
        <c:crossAx val="-2068027336"/>
        <c:crosses val="autoZero"/>
        <c:crossBetween val="between"/>
      </c:valAx>
    </c:plotArea>
    <c:legend>
      <c:legendPos val="b"/>
      <c:overlay val="0"/>
    </c:legend>
    <c:plotVisOnly val="1"/>
    <c:dispBlanksAs val="gap"/>
    <c:showDLblsOverMax val="1"/>
  </c:chart>
  <c:txPr>
    <a:bodyPr/>
    <a:lstStyle/>
    <a:p>
      <a:pPr>
        <a:defRPr sz="10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840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(30 s). Introduce the team and the question: can the attention weights of a graph attention network serve both to rank influential nodes and to flag anomalous ones? Stress at the start that we treat this as a hypothesis, that every number on later slides is measured from saved runs, and that influence labels are simulated while Cora anomalies are injected.</a:t>
            </a:r>
          </a:p>
          <a:p>
            <a:r>
              <a:t>Sources: project proposal (Review 1); report Sections 1 and 5.</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Context (1 min). The three cards come from the proposal: challenge, limitation, opportunity. The problem statement is the proposal's, rephrased as a testable question.</a:t>
            </a:r>
          </a:p>
          <a:p>
            <a:r>
              <a:t>Sources: proposal slides 2-3; Velickovic et al. 2018 (GAT); Akoglu et al. 2015 (survey).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Objectives (1 min). Left: the six objectives from the proposal. Right: four research questions we can answer with the saved runs. Each is answered on slides 10-13 with the measured numbers, including negative outcomes.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Theory (1.5 min). Kipf &amp; Welling 2017 for GCN, Velickovic et al. 2018 for GAT, Brody et al. 2022 for GATv2. Key point: because each target's coefficients sum to one, the useful quantity is attention a source RECEIVES from its targets. Isolated nodes get zero. Attention as explanation: Jain &amp; Wallace 2019, Wiegreffe &amp; Pinter 2019.</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Literature (1 min). All entries were opened at primary sources; the matrix and claim ledger are in docs/literature. Zhang et al. 2022 as written in the proposal could not be found in arXiv, Crossref or OpenAlex; we excluded it and list real near-matches in docs/literature/zhang2022_verification.md. DeepLinker/GANR (Gu et al.) already rank by received attention.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Architecture (1 min). Top row mirrors report Figure 'System architecture'; bottom row mirrors 'Functional block diagram'. Emphasise the leakage boundary: unsupervised training, validation labels choose only alpha and the threshold, test labels are used once for evaluation. Transductive disclosure: the encoder sees all nodes' features and all edges, but no labels.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Method (1.5 min). Equations are in report Section 3.2. a_sel in {0,.25,.5,.75,1} is chosen by validation ROC-AUC. The combined score uses fixed 0.5/0.5 weights on train-robust-z-scored components, not tuned. Adam, lr 0.005, weight decay 5e-4. On Weibo, 30% of arcs are kept per training epoch (DropEdge-style, Rong et al. 2020) for CPU feasibility; inference uses the full graph.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and protocol (1.5 min). Cora topic classes are NOT anomaly labels. Weibo labels are organic (suspicious posting behaviour, BOND Appendix A.1.1). Our dataset validation found that the current upstream Weibo file blanks the validation and test labels (347 of 868 anomalies remain); we pin the original 2022 commit, verify its SHA-256 and re-ran every Weibo experiment. The comparison with the corrupted run is in report Sec. 5.1. Influence is a simulation proxy, never observed influence. Sources: Liu et al. 2022 (BOND); Ding et al. 2019 (injection); Kempe et al. 2003 (IC); Sen et al. 2008 and Yang et al. 2016 (Cora).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Features and demo sequence (2 min). All screenshots are from the running dashboard.</a:t>
            </a:r>
          </a:p>
          <a:p>
            <a:r>
              <a:t>Demo sequence (see reports/demo_script.md): 1) Data &amp; graph summary: pick Cora, show injection parameters. 2) Train / evaluate: start a smoke job, watch the log, then reload a checkpoint and verify that saved predictions are reproduced. 3) Anomaly scores: move the threshold, note that metrics at the slider are shown on validation only. 4) Influence ranking: pick p, sort by received attention and by degree. 5) Graph explorer: centre on the top test anomaly, switch layer and head. 6) Demos: known injected anomaly, high-spread node, explanation-vs-perturbation, model reload.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Anomaly results (1.5 min). Bars are means over seeds (standard deviations in report Table 5.2 and in artifacts/results/tables). Colours: grey baselines, navy reconstruction, teal attention-based scores, sand control. Message for RQ1: the attention-only score matches reconstruction on injected Cora but also matches an untrained-attention and a uniform-weight control, so the signal comes from the neighbour feature discrepancy, not from learned attention. Weibo: BOND reports that classical methods already do very well there, so a strong baseline is expected.</a:t>
            </a:r>
          </a:p>
          <a:p>
            <a:r>
              <a:t>Sources: results index artifacts/results/results_index.json; Liu et al. 2022.</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Influence results (1.5 min). Ground truth = held-out independent-cascade spread on the same test nodes for every method. RQ2: received attention tracks the non-learned uniform-attention control closely because learned attention is nearly uniform (entropy ratio about 0.98-1.0 on Cora). Individual spread differs from seed-set spread: the oracle top-10 by individual spread is not the best seed set because chosen nodes overlap. Not observed influence: simulation only.</a:t>
            </a:r>
          </a:p>
          <a:p>
            <a:r>
              <a:t>Sources: Kempe et al. 2003; Gu et al. 2019/2021 for received attention; report Tables in Section 5.</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Ablations, explanation test and compute (1.5 min). Ablation numbers are means over seeds from artifacts/results/tables/ablation_*.csv. Perturbation test: remove m&lt;=3 edges of a target chosen by highest attention, lowest attention or at random; recompute the frozen model's output identically; paired bootstrap CI over targets pooled across seeds. Parameter budgets: GAT and GCN have about 96k encoder parameters, GATv2 about 192k (two weight matrices); 1-head and 4-head GAT have identical parameter counts. Compute: wall-clock measured per run; memory in the report is a cumulative process peak (upper bound).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Outcomes (1.5 min). Be explicit that these are valid negative outcomes: they are results, not failures of the project. State the limits: simulation proxy for influence, injected labels on Cora, label-count discrepancy on Weibo, transductive evaluation, CPU compute budget, and few seeds. What is not run is listed in the report and PROGRESS.md.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(1 min). Future work follows directly from the limits. Full numbered bibliography: report Section 8 and docs/literature/references.bib; every entry was opened at a primary source.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2" name="TextBox 1"/>
          <p:cNvSpPr txBox="1"/>
          <p:nvPr/>
        </p:nvSpPr>
        <p:spPr>
          <a:xfrm>
            <a:off x="731520" y="640080"/>
            <a:ext cx="10058400" cy="200055"/>
          </a:xfrm>
          <a:prstGeom prst="rect">
            <a:avLst/>
          </a:prstGeom>
          <a:noFill/>
        </p:spPr>
        <p:txBody>
          <a:bodyPr wrap="square" lIns="0" tIns="0" rIns="0" bIns="0" anchor="t">
            <a:spAutoFit/>
          </a:bodyPr>
          <a:lstStyle/>
          <a:p>
            <a:pPr algn="l"/>
            <a:r>
              <a:rPr sz="1300" b="1" i="0" dirty="0">
                <a:solidFill>
                  <a:srgbClr val="8FD3DA"/>
                </a:solidFill>
                <a:latin typeface="Calibri"/>
              </a:rPr>
              <a:t>FINAL PROJECT PRESENTATION  |  CSI1006  |  </a:t>
            </a:r>
            <a:r>
              <a:rPr lang="en-IN" sz="1300" b="1" dirty="0">
                <a:solidFill>
                  <a:srgbClr val="8FD3DA"/>
                </a:solidFill>
                <a:latin typeface="Calibri"/>
              </a:rPr>
              <a:t>SEVENTH </a:t>
            </a:r>
            <a:r>
              <a:rPr sz="1300" b="1" i="0" dirty="0">
                <a:solidFill>
                  <a:srgbClr val="8FD3DA"/>
                </a:solidFill>
                <a:latin typeface="Calibri"/>
              </a:rPr>
              <a:t>SEMESTER</a:t>
            </a:r>
          </a:p>
        </p:txBody>
      </p:sp>
      <p:sp>
        <p:nvSpPr>
          <p:cNvPr id="3" name="Title"/>
          <p:cNvSpPr txBox="1"/>
          <p:nvPr/>
        </p:nvSpPr>
        <p:spPr>
          <a:xfrm>
            <a:off x="731520" y="1371600"/>
            <a:ext cx="10698480" cy="2194560"/>
          </a:xfrm>
          <a:prstGeom prst="rect">
            <a:avLst/>
          </a:prstGeom>
          <a:noFill/>
        </p:spPr>
        <p:txBody>
          <a:bodyPr wrap="square" lIns="0" tIns="0" rIns="0" bIns="0" anchor="t">
            <a:spAutoFit/>
          </a:bodyPr>
          <a:lstStyle/>
          <a:p>
            <a:pPr algn="l"/>
            <a:r>
              <a:rPr sz="4000" b="1" i="0" dirty="0">
                <a:solidFill>
                  <a:srgbClr val="FFFFFF"/>
                </a:solidFill>
                <a:latin typeface="Cambria"/>
              </a:rPr>
              <a:t>Attention-Driven Graph Neural Networks</a:t>
            </a:r>
          </a:p>
          <a:p>
            <a:pPr algn="l"/>
            <a:r>
              <a:rPr sz="4000" b="1" i="0">
                <a:solidFill>
                  <a:srgbClr val="FFFFFF"/>
                </a:solidFill>
                <a:latin typeface="Cambria"/>
              </a:rPr>
              <a:t>for Influence and Anomaly Detection</a:t>
            </a:r>
          </a:p>
          <a:p>
            <a:pPr algn="l"/>
            <a:r>
              <a:rPr sz="4000" b="1" i="0" dirty="0">
                <a:solidFill>
                  <a:srgbClr val="FFFFFF"/>
                </a:solidFill>
                <a:latin typeface="Cambria"/>
              </a:rPr>
              <a:t>in Complex Networks</a:t>
            </a:r>
          </a:p>
        </p:txBody>
      </p:sp>
      <p:sp>
        <p:nvSpPr>
          <p:cNvPr id="4" name="TextBox 3"/>
          <p:cNvSpPr txBox="1"/>
          <p:nvPr/>
        </p:nvSpPr>
        <p:spPr>
          <a:xfrm>
            <a:off x="731520" y="3977639"/>
            <a:ext cx="10515600" cy="457200"/>
          </a:xfrm>
          <a:prstGeom prst="rect">
            <a:avLst/>
          </a:prstGeom>
          <a:noFill/>
        </p:spPr>
        <p:txBody>
          <a:bodyPr wrap="square" lIns="0" tIns="0" rIns="0" bIns="0" anchor="t">
            <a:spAutoFit/>
          </a:bodyPr>
          <a:lstStyle/>
          <a:p>
            <a:pPr algn="l"/>
            <a:r>
              <a:rPr sz="1800" b="0" i="1">
                <a:solidFill>
                  <a:srgbClr val="C9D6E2"/>
                </a:solidFill>
                <a:latin typeface="Calibri"/>
              </a:rPr>
              <a:t>A shared graph-attention encoder, tested as a hypothesis on CPU-sized benchmarks</a:t>
            </a:r>
          </a:p>
        </p:txBody>
      </p:sp>
      <p:sp>
        <p:nvSpPr>
          <p:cNvPr id="5" name="TextBox 4"/>
          <p:cNvSpPr txBox="1"/>
          <p:nvPr/>
        </p:nvSpPr>
        <p:spPr>
          <a:xfrm>
            <a:off x="731520" y="4892040"/>
            <a:ext cx="4572000" cy="822960"/>
          </a:xfrm>
          <a:prstGeom prst="rect">
            <a:avLst/>
          </a:prstGeom>
          <a:noFill/>
        </p:spPr>
        <p:txBody>
          <a:bodyPr wrap="square" lIns="0" tIns="0" rIns="0" bIns="0" anchor="t">
            <a:spAutoFit/>
          </a:bodyPr>
          <a:lstStyle/>
          <a:p>
            <a:pPr algn="l"/>
            <a:r>
              <a:rPr sz="1600" b="1" i="0">
                <a:solidFill>
                  <a:srgbClr val="FFFFFF"/>
                </a:solidFill>
                <a:latin typeface="Calibri"/>
              </a:rPr>
              <a:t>Krish Kapoor</a:t>
            </a:r>
          </a:p>
          <a:p>
            <a:pPr algn="l"/>
            <a:r>
              <a:rPr sz="1600" b="0" i="0">
                <a:solidFill>
                  <a:srgbClr val="FFFFFF"/>
                </a:solidFill>
                <a:latin typeface="Calibri"/>
              </a:rPr>
              <a:t>Registration No. 23MIC0023</a:t>
            </a:r>
          </a:p>
        </p:txBody>
      </p:sp>
      <p:sp>
        <p:nvSpPr>
          <p:cNvPr id="6" name="TextBox 5"/>
          <p:cNvSpPr txBox="1"/>
          <p:nvPr/>
        </p:nvSpPr>
        <p:spPr>
          <a:xfrm>
            <a:off x="5486400" y="4892040"/>
            <a:ext cx="4572000" cy="822960"/>
          </a:xfrm>
          <a:prstGeom prst="rect">
            <a:avLst/>
          </a:prstGeom>
          <a:noFill/>
        </p:spPr>
        <p:txBody>
          <a:bodyPr wrap="square" lIns="0" tIns="0" rIns="0" bIns="0" anchor="t">
            <a:spAutoFit/>
          </a:bodyPr>
          <a:lstStyle/>
          <a:p>
            <a:pPr algn="l"/>
            <a:r>
              <a:rPr sz="1600" b="1" i="0">
                <a:solidFill>
                  <a:srgbClr val="FFFFFF"/>
                </a:solidFill>
                <a:latin typeface="Calibri"/>
              </a:rPr>
              <a:t>A.M. Karthikeshwaran</a:t>
            </a:r>
          </a:p>
          <a:p>
            <a:pPr algn="l"/>
            <a:r>
              <a:rPr sz="1600" b="0" i="0">
                <a:solidFill>
                  <a:srgbClr val="FFFFFF"/>
                </a:solidFill>
                <a:latin typeface="Calibri"/>
              </a:rPr>
              <a:t>Registration No. 23MID0215</a:t>
            </a:r>
          </a:p>
        </p:txBody>
      </p:sp>
      <p:sp>
        <p:nvSpPr>
          <p:cNvPr id="7" name="TextBox 6"/>
          <p:cNvSpPr txBox="1"/>
          <p:nvPr/>
        </p:nvSpPr>
        <p:spPr>
          <a:xfrm>
            <a:off x="731520" y="5989320"/>
            <a:ext cx="10515600" cy="365760"/>
          </a:xfrm>
          <a:prstGeom prst="rect">
            <a:avLst/>
          </a:prstGeom>
          <a:noFill/>
        </p:spPr>
        <p:txBody>
          <a:bodyPr wrap="square" lIns="0" tIns="0" rIns="0" bIns="0" anchor="t">
            <a:spAutoFit/>
          </a:bodyPr>
          <a:lstStyle/>
          <a:p>
            <a:pPr algn="l"/>
            <a:r>
              <a:rPr sz="1400" b="0" i="0">
                <a:solidFill>
                  <a:srgbClr val="C9D6E2"/>
                </a:solidFill>
                <a:latin typeface="Calibri"/>
              </a:rPr>
              <a:t>School of Computer Science and Engineering (SCOPE), VIT Vellore</a:t>
            </a:r>
          </a:p>
        </p:txBody>
      </p:sp>
      <p:sp>
        <p:nvSpPr>
          <p:cNvPr id="8" name="Rounded Rectangle 7"/>
          <p:cNvSpPr/>
          <p:nvPr/>
        </p:nvSpPr>
        <p:spPr>
          <a:xfrm>
            <a:off x="9326880" y="566928"/>
            <a:ext cx="2194560" cy="365760"/>
          </a:xfrm>
          <a:prstGeom prst="roundRect">
            <a:avLst>
              <a:gd name="adj" fmla="val 30000"/>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FFFFFF"/>
                </a:solidFill>
                <a:latin typeface="Calibri"/>
              </a:rPr>
              <a:t>measured, not promised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48640" y="6446520"/>
            <a:ext cx="8229600" cy="274320"/>
          </a:xfrm>
          <a:prstGeom prst="rect">
            <a:avLst/>
          </a:prstGeom>
          <a:noFill/>
        </p:spPr>
        <p:txBody>
          <a:bodyPr wrap="square" lIns="0" tIns="0" rIns="0" bIns="0" anchor="t">
            <a:spAutoFit/>
          </a:bodyPr>
          <a:lstStyle/>
          <a:p>
            <a:pPr algn="l"/>
            <a:r>
              <a:rPr sz="900" b="0" i="0">
                <a:solidFill>
                  <a:srgbClr val="5B6878"/>
                </a:solidFill>
                <a:latin typeface="Calibri"/>
              </a:rPr>
              <a:t>Attention-driven GNN for influence and anomaly detection  |  Krish Kapoor (23MIC0023), A.M. Karthikeshwaran (23MID0215)</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r>
              <a:rPr sz="900" b="0" i="0">
                <a:solidFill>
                  <a:srgbClr val="5B6878"/>
                </a:solidFill>
                <a:latin typeface="Calibri"/>
              </a:rPr>
              <a:t>2</a:t>
            </a:r>
          </a:p>
        </p:txBody>
      </p:sp>
      <p:sp>
        <p:nvSpPr>
          <p:cNvPr id="4"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0B2545"/>
                </a:solidFill>
                <a:latin typeface="Cambria"/>
              </a:rPr>
              <a:t>Context: hubs and outliers are hard to explain</a:t>
            </a:r>
          </a:p>
        </p:txBody>
      </p:sp>
      <p:sp>
        <p:nvSpPr>
          <p:cNvPr id="5" name="TextBox 4"/>
          <p:cNvSpPr txBox="1"/>
          <p:nvPr/>
        </p:nvSpPr>
        <p:spPr>
          <a:xfrm>
            <a:off x="548640" y="1024128"/>
            <a:ext cx="11064240" cy="365760"/>
          </a:xfrm>
          <a:prstGeom prst="rect">
            <a:avLst/>
          </a:prstGeom>
          <a:noFill/>
        </p:spPr>
        <p:txBody>
          <a:bodyPr wrap="square" lIns="0" tIns="0" rIns="0" bIns="0" anchor="t">
            <a:spAutoFit/>
          </a:bodyPr>
          <a:lstStyle/>
          <a:p>
            <a:pPr algn="l"/>
            <a:r>
              <a:rPr sz="1500" b="0" i="0">
                <a:solidFill>
                  <a:srgbClr val="5B6878"/>
                </a:solidFill>
                <a:latin typeface="Calibri"/>
              </a:rPr>
              <a:t>Why influence and anomaly questions are usually answered separately</a:t>
            </a:r>
          </a:p>
        </p:txBody>
      </p:sp>
      <p:sp>
        <p:nvSpPr>
          <p:cNvPr id="6" name="Rounded Rectangle 5"/>
          <p:cNvSpPr/>
          <p:nvPr/>
        </p:nvSpPr>
        <p:spPr>
          <a:xfrm>
            <a:off x="548640" y="1645920"/>
            <a:ext cx="3566160" cy="2926080"/>
          </a:xfrm>
          <a:prstGeom prst="roundRect">
            <a:avLst>
              <a:gd name="adj" fmla="val 5000"/>
            </a:avLst>
          </a:prstGeom>
          <a:solidFill>
            <a:srgbClr val="FFFFFF"/>
          </a:solidFill>
          <a:ln>
            <a:solidFill>
              <a:srgbClr val="E6EE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83080"/>
            <a:ext cx="3200400" cy="365760"/>
          </a:xfrm>
          <a:prstGeom prst="rect">
            <a:avLst/>
          </a:prstGeom>
          <a:noFill/>
        </p:spPr>
        <p:txBody>
          <a:bodyPr wrap="square" lIns="0" tIns="0" rIns="0" bIns="0" anchor="t">
            <a:spAutoFit/>
          </a:bodyPr>
          <a:lstStyle/>
          <a:p>
            <a:pPr algn="l"/>
            <a:r>
              <a:rPr sz="1600" b="1" i="0">
                <a:solidFill>
                  <a:srgbClr val="13808B"/>
                </a:solidFill>
                <a:latin typeface="Cambria"/>
              </a:rPr>
              <a:t>The challenge</a:t>
            </a:r>
          </a:p>
        </p:txBody>
      </p:sp>
      <p:sp>
        <p:nvSpPr>
          <p:cNvPr id="8" name="TextBox 7"/>
          <p:cNvSpPr txBox="1"/>
          <p:nvPr/>
        </p:nvSpPr>
        <p:spPr>
          <a:xfrm>
            <a:off x="731520" y="2212848"/>
            <a:ext cx="3200400" cy="2240280"/>
          </a:xfrm>
          <a:prstGeom prst="rect">
            <a:avLst/>
          </a:prstGeom>
          <a:noFill/>
        </p:spPr>
        <p:txBody>
          <a:bodyPr wrap="square" lIns="0" tIns="0" rIns="0" bIns="0" anchor="t">
            <a:spAutoFit/>
          </a:bodyPr>
          <a:lstStyle/>
          <a:p>
            <a:pPr algn="l"/>
            <a:r>
              <a:rPr sz="1300" b="0" i="0">
                <a:solidFill>
                  <a:srgbClr val="1B2634"/>
                </a:solidFill>
                <a:latin typeface="Calibri"/>
              </a:rPr>
              <a:t>Social, communication and interaction networks hold many linked entities. Finding the ones that </a:t>
            </a:r>
            <a:r>
              <a:rPr sz="1300" b="1" i="0">
                <a:solidFill>
                  <a:srgbClr val="1B2634"/>
                </a:solidFill>
                <a:latin typeface="Calibri"/>
              </a:rPr>
              <a:t>spread</a:t>
            </a:r>
            <a:r>
              <a:rPr sz="1300" b="0" i="0">
                <a:solidFill>
                  <a:srgbClr val="1B2634"/>
                </a:solidFill>
                <a:latin typeface="Calibri"/>
              </a:rPr>
              <a:t> activity and the ones that </a:t>
            </a:r>
            <a:r>
              <a:rPr sz="1300" b="1" i="0">
                <a:solidFill>
                  <a:srgbClr val="1B2634"/>
                </a:solidFill>
                <a:latin typeface="Calibri"/>
              </a:rPr>
              <a:t>behave oddly</a:t>
            </a:r>
            <a:r>
              <a:rPr sz="1300" b="0" i="0">
                <a:solidFill>
                  <a:srgbClr val="1B2634"/>
                </a:solidFill>
                <a:latin typeface="Calibri"/>
              </a:rPr>
              <a:t> strains conventional pipelines.</a:t>
            </a:r>
          </a:p>
        </p:txBody>
      </p:sp>
      <p:sp>
        <p:nvSpPr>
          <p:cNvPr id="9" name="Rounded Rectangle 8"/>
          <p:cNvSpPr/>
          <p:nvPr/>
        </p:nvSpPr>
        <p:spPr>
          <a:xfrm>
            <a:off x="4315968" y="1645920"/>
            <a:ext cx="3566160" cy="2926080"/>
          </a:xfrm>
          <a:prstGeom prst="roundRect">
            <a:avLst>
              <a:gd name="adj" fmla="val 5000"/>
            </a:avLst>
          </a:prstGeom>
          <a:solidFill>
            <a:srgbClr val="FFFFFF"/>
          </a:solidFill>
          <a:ln>
            <a:solidFill>
              <a:srgbClr val="E6EE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98848" y="1783080"/>
            <a:ext cx="3200400" cy="365760"/>
          </a:xfrm>
          <a:prstGeom prst="rect">
            <a:avLst/>
          </a:prstGeom>
          <a:noFill/>
        </p:spPr>
        <p:txBody>
          <a:bodyPr wrap="square" lIns="0" tIns="0" rIns="0" bIns="0" anchor="t">
            <a:spAutoFit/>
          </a:bodyPr>
          <a:lstStyle/>
          <a:p>
            <a:pPr algn="l"/>
            <a:r>
              <a:rPr sz="1600" b="1" i="0">
                <a:solidFill>
                  <a:srgbClr val="D9822B"/>
                </a:solidFill>
                <a:latin typeface="Cambria"/>
              </a:rPr>
              <a:t>The limitation</a:t>
            </a:r>
          </a:p>
        </p:txBody>
      </p:sp>
      <p:sp>
        <p:nvSpPr>
          <p:cNvPr id="11" name="TextBox 10"/>
          <p:cNvSpPr txBox="1"/>
          <p:nvPr/>
        </p:nvSpPr>
        <p:spPr>
          <a:xfrm>
            <a:off x="4498848" y="2212848"/>
            <a:ext cx="3200400" cy="2240280"/>
          </a:xfrm>
          <a:prstGeom prst="rect">
            <a:avLst/>
          </a:prstGeom>
          <a:noFill/>
        </p:spPr>
        <p:txBody>
          <a:bodyPr wrap="square" lIns="0" tIns="0" rIns="0" bIns="0" anchor="t">
            <a:spAutoFit/>
          </a:bodyPr>
          <a:lstStyle/>
          <a:p>
            <a:pPr algn="l"/>
            <a:r>
              <a:rPr sz="1300" b="0" i="0">
                <a:solidFill>
                  <a:srgbClr val="1B2634"/>
                </a:solidFill>
                <a:latin typeface="Calibri"/>
              </a:rPr>
              <a:t>Degree, PageRank and betweenness treat neighbours alike. Deep detectors return a score but rarely say </a:t>
            </a:r>
            <a:r>
              <a:rPr sz="1300" b="1" i="0">
                <a:solidFill>
                  <a:srgbClr val="1B2634"/>
                </a:solidFill>
                <a:latin typeface="Calibri"/>
              </a:rPr>
              <a:t>which neighbours</a:t>
            </a:r>
            <a:r>
              <a:rPr sz="1300" b="0" i="0">
                <a:solidFill>
                  <a:srgbClr val="1B2634"/>
                </a:solidFill>
                <a:latin typeface="Calibri"/>
              </a:rPr>
              <a:t> drove it.</a:t>
            </a:r>
          </a:p>
        </p:txBody>
      </p:sp>
      <p:sp>
        <p:nvSpPr>
          <p:cNvPr id="12" name="Rounded Rectangle 11"/>
          <p:cNvSpPr/>
          <p:nvPr/>
        </p:nvSpPr>
        <p:spPr>
          <a:xfrm>
            <a:off x="8083296" y="1645920"/>
            <a:ext cx="3566160" cy="2926080"/>
          </a:xfrm>
          <a:prstGeom prst="roundRect">
            <a:avLst>
              <a:gd name="adj" fmla="val 5000"/>
            </a:avLst>
          </a:prstGeom>
          <a:solidFill>
            <a:srgbClr val="FFFFFF"/>
          </a:solidFill>
          <a:ln>
            <a:solidFill>
              <a:srgbClr val="E6EE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66175" y="1783080"/>
            <a:ext cx="3200400" cy="365760"/>
          </a:xfrm>
          <a:prstGeom prst="rect">
            <a:avLst/>
          </a:prstGeom>
          <a:noFill/>
        </p:spPr>
        <p:txBody>
          <a:bodyPr wrap="square" lIns="0" tIns="0" rIns="0" bIns="0" anchor="t">
            <a:spAutoFit/>
          </a:bodyPr>
          <a:lstStyle/>
          <a:p>
            <a:pPr algn="l"/>
            <a:r>
              <a:rPr sz="1600" b="1" i="0">
                <a:solidFill>
                  <a:srgbClr val="0B2545"/>
                </a:solidFill>
                <a:latin typeface="Cambria"/>
              </a:rPr>
              <a:t>The opportunity</a:t>
            </a:r>
          </a:p>
        </p:txBody>
      </p:sp>
      <p:sp>
        <p:nvSpPr>
          <p:cNvPr id="14" name="TextBox 13"/>
          <p:cNvSpPr txBox="1"/>
          <p:nvPr/>
        </p:nvSpPr>
        <p:spPr>
          <a:xfrm>
            <a:off x="8266175" y="2212848"/>
            <a:ext cx="3200400" cy="2240280"/>
          </a:xfrm>
          <a:prstGeom prst="rect">
            <a:avLst/>
          </a:prstGeom>
          <a:noFill/>
        </p:spPr>
        <p:txBody>
          <a:bodyPr wrap="square" lIns="0" tIns="0" rIns="0" bIns="0" anchor="t">
            <a:spAutoFit/>
          </a:bodyPr>
          <a:lstStyle/>
          <a:p>
            <a:pPr algn="l"/>
            <a:r>
              <a:rPr sz="1300" b="0" i="0">
                <a:solidFill>
                  <a:srgbClr val="1B2634"/>
                </a:solidFill>
                <a:latin typeface="Calibri"/>
              </a:rPr>
              <a:t>A graph attention network learns a </a:t>
            </a:r>
            <a:r>
              <a:rPr sz="1300" b="1" i="0">
                <a:solidFill>
                  <a:srgbClr val="1B2634"/>
                </a:solidFill>
                <a:latin typeface="Calibri"/>
              </a:rPr>
              <a:t>weight per neighbour</a:t>
            </a:r>
            <a:r>
              <a:rPr sz="1300" b="0" i="0">
                <a:solidFill>
                  <a:srgbClr val="1B2634"/>
                </a:solidFill>
                <a:latin typeface="Calibri"/>
              </a:rPr>
              <a:t>. Those weights might double as an influence signal and an anomaly signal.</a:t>
            </a:r>
          </a:p>
        </p:txBody>
      </p:sp>
      <p:sp>
        <p:nvSpPr>
          <p:cNvPr id="15" name="Rounded Rectangle 14"/>
          <p:cNvSpPr/>
          <p:nvPr/>
        </p:nvSpPr>
        <p:spPr>
          <a:xfrm>
            <a:off x="548640" y="4892040"/>
            <a:ext cx="11100816" cy="1280160"/>
          </a:xfrm>
          <a:prstGeom prst="roundRect">
            <a:avLst>
              <a:gd name="adj" fmla="val 8000"/>
            </a:avLst>
          </a:prstGeom>
          <a:solidFill>
            <a:srgbClr val="E6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5029200"/>
            <a:ext cx="10607040" cy="1097280"/>
          </a:xfrm>
          <a:prstGeom prst="rect">
            <a:avLst/>
          </a:prstGeom>
          <a:noFill/>
        </p:spPr>
        <p:txBody>
          <a:bodyPr wrap="square" lIns="0" tIns="0" rIns="0" bIns="0" anchor="t">
            <a:spAutoFit/>
          </a:bodyPr>
          <a:lstStyle/>
          <a:p>
            <a:pPr algn="l"/>
            <a:r>
              <a:rPr sz="1600" b="1" i="0">
                <a:solidFill>
                  <a:srgbClr val="1B2634"/>
                </a:solidFill>
                <a:latin typeface="Calibri"/>
              </a:rPr>
              <a:t>Problem.</a:t>
            </a:r>
            <a:r>
              <a:rPr sz="1600" b="0" i="0">
                <a:solidFill>
                  <a:srgbClr val="1B2634"/>
                </a:solidFill>
                <a:latin typeface="Calibri"/>
              </a:rPr>
              <a:t> Given an attributed network, can one learnable model both rank nodes by influence and flag anomalous nodes, stay interpretable, and train on a laptop CPU?</a:t>
            </a:r>
          </a:p>
          <a:p>
            <a:pPr algn="l"/>
            <a:r>
              <a:rPr sz="1600" b="0" i="0">
                <a:solidFill>
                  <a:srgbClr val="1B2634"/>
                </a:solidFill>
                <a:latin typeface="Calibri"/>
              </a:rPr>
              <a:t>We test this against classical baselines and non-attentive controls rather than assume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48640" y="6446520"/>
            <a:ext cx="8229600" cy="274320"/>
          </a:xfrm>
          <a:prstGeom prst="rect">
            <a:avLst/>
          </a:prstGeom>
          <a:noFill/>
        </p:spPr>
        <p:txBody>
          <a:bodyPr wrap="square" lIns="0" tIns="0" rIns="0" bIns="0" anchor="t">
            <a:spAutoFit/>
          </a:bodyPr>
          <a:lstStyle/>
          <a:p>
            <a:pPr algn="l"/>
            <a:r>
              <a:rPr sz="900" b="0" i="0">
                <a:solidFill>
                  <a:srgbClr val="5B6878"/>
                </a:solidFill>
                <a:latin typeface="Calibri"/>
              </a:rPr>
              <a:t>Attention-driven GNN for influence and anomaly detection  |  Krish Kapoor (23MIC0023), A.M. Karthikeshwaran (23MID0215)</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r>
              <a:rPr sz="900" b="0" i="0">
                <a:solidFill>
                  <a:srgbClr val="5B6878"/>
                </a:solidFill>
                <a:latin typeface="Calibri"/>
              </a:rPr>
              <a:t>3</a:t>
            </a:r>
          </a:p>
        </p:txBody>
      </p:sp>
      <p:sp>
        <p:nvSpPr>
          <p:cNvPr id="4"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0B2545"/>
                </a:solidFill>
                <a:latin typeface="Cambria"/>
              </a:rPr>
              <a:t>Objectives and research questions</a:t>
            </a:r>
          </a:p>
        </p:txBody>
      </p:sp>
      <p:sp>
        <p:nvSpPr>
          <p:cNvPr id="5" name="TextBox 4"/>
          <p:cNvSpPr txBox="1"/>
          <p:nvPr/>
        </p:nvSpPr>
        <p:spPr>
          <a:xfrm>
            <a:off x="548640" y="1024128"/>
            <a:ext cx="11064240" cy="365760"/>
          </a:xfrm>
          <a:prstGeom prst="rect">
            <a:avLst/>
          </a:prstGeom>
          <a:noFill/>
        </p:spPr>
        <p:txBody>
          <a:bodyPr wrap="square" lIns="0" tIns="0" rIns="0" bIns="0" anchor="t">
            <a:spAutoFit/>
          </a:bodyPr>
          <a:lstStyle/>
          <a:p>
            <a:pPr algn="l"/>
            <a:r>
              <a:rPr sz="1500" b="0" i="0">
                <a:solidFill>
                  <a:srgbClr val="5B6878"/>
                </a:solidFill>
                <a:latin typeface="Calibri"/>
              </a:rPr>
              <a:t>The proposal's six objectives, turned into measurable checks</a:t>
            </a:r>
          </a:p>
        </p:txBody>
      </p:sp>
      <p:sp>
        <p:nvSpPr>
          <p:cNvPr id="6" name="TextBox 5"/>
          <p:cNvSpPr txBox="1"/>
          <p:nvPr/>
        </p:nvSpPr>
        <p:spPr>
          <a:xfrm>
            <a:off x="548640" y="1645920"/>
            <a:ext cx="5760720" cy="4480560"/>
          </a:xfrm>
          <a:prstGeom prst="rect">
            <a:avLst/>
          </a:prstGeom>
          <a:noFill/>
        </p:spPr>
        <p:txBody>
          <a:bodyPr wrap="square" lIns="0" tIns="0" rIns="0" bIns="0">
            <a:spAutoFit/>
          </a:bodyPr>
          <a:lstStyle/>
          <a:p>
            <a:pPr marL="201168" indent="-201168">
              <a:spcAft>
                <a:spcPts val="900"/>
              </a:spcAft>
              <a:buChar char="•"/>
            </a:pPr>
            <a:r>
              <a:rPr sz="1500" b="1" i="0">
                <a:solidFill>
                  <a:srgbClr val="1B2634"/>
                </a:solidFill>
                <a:latin typeface="Calibri"/>
              </a:rPr>
              <a:t>1</a:t>
            </a:r>
            <a:r>
              <a:rPr sz="1500" b="0" i="0">
                <a:solidFill>
                  <a:srgbClr val="1B2634"/>
                </a:solidFill>
                <a:latin typeface="Calibri"/>
              </a:rPr>
              <a:t> Represent networks as attributed graphs; document data, labels and splits</a:t>
            </a:r>
          </a:p>
          <a:p>
            <a:pPr marL="201168" indent="-201168">
              <a:spcAft>
                <a:spcPts val="900"/>
              </a:spcAft>
              <a:buChar char="•"/>
            </a:pPr>
            <a:r>
              <a:rPr sz="1500" b="1" i="0">
                <a:solidFill>
                  <a:srgbClr val="1B2634"/>
                </a:solidFill>
                <a:latin typeface="Calibri"/>
              </a:rPr>
              <a:t>2</a:t>
            </a:r>
            <a:r>
              <a:rPr sz="1500" b="0" i="0">
                <a:solidFill>
                  <a:srgbClr val="1B2634"/>
                </a:solidFill>
                <a:latin typeface="Calibri"/>
              </a:rPr>
              <a:t> Train a multi-head attention encoder under a CPU budget</a:t>
            </a:r>
          </a:p>
          <a:p>
            <a:pPr marL="201168" indent="-201168">
              <a:spcAft>
                <a:spcPts val="900"/>
              </a:spcAft>
              <a:buChar char="•"/>
            </a:pPr>
            <a:r>
              <a:rPr sz="1500" b="1" i="0">
                <a:solidFill>
                  <a:srgbClr val="1B2634"/>
                </a:solidFill>
                <a:latin typeface="Calibri"/>
              </a:rPr>
              <a:t>3</a:t>
            </a:r>
            <a:r>
              <a:rPr sz="1500" b="0" i="0">
                <a:solidFill>
                  <a:srgbClr val="1B2634"/>
                </a:solidFill>
                <a:latin typeface="Calibri"/>
              </a:rPr>
              <a:t> Test attention as a shared signal for influence ranking and anomaly scoring</a:t>
            </a:r>
          </a:p>
          <a:p>
            <a:pPr marL="201168" indent="-201168">
              <a:spcAft>
                <a:spcPts val="900"/>
              </a:spcAft>
              <a:buChar char="•"/>
            </a:pPr>
            <a:r>
              <a:rPr sz="1500" b="1" i="0">
                <a:solidFill>
                  <a:srgbClr val="1B2634"/>
                </a:solidFill>
                <a:latin typeface="Calibri"/>
              </a:rPr>
              <a:t>4</a:t>
            </a:r>
            <a:r>
              <a:rPr sz="1500" b="0" i="0">
                <a:solidFill>
                  <a:srgbClr val="1B2634"/>
                </a:solidFill>
                <a:latin typeface="Calibri"/>
              </a:rPr>
              <a:t> Benchmark against degree, PageRank, betweenness, Isolation Forest and a DOMINANT-style GCN</a:t>
            </a:r>
          </a:p>
          <a:p>
            <a:pPr marL="201168" indent="-201168">
              <a:spcAft>
                <a:spcPts val="900"/>
              </a:spcAft>
              <a:buChar char="•"/>
            </a:pPr>
            <a:r>
              <a:rPr sz="1500" b="1" i="0">
                <a:solidFill>
                  <a:srgbClr val="1B2634"/>
                </a:solidFill>
                <a:latin typeface="Calibri"/>
              </a:rPr>
              <a:t>5</a:t>
            </a:r>
            <a:r>
              <a:rPr sz="1500" b="0" i="0">
                <a:solidFill>
                  <a:srgbClr val="1B2634"/>
                </a:solidFill>
                <a:latin typeface="Calibri"/>
              </a:rPr>
              <a:t> Evaluate with precision, recall, F1, ROC-AUC, AP, rank correlation, NDCG and held-out cascade spread</a:t>
            </a:r>
          </a:p>
          <a:p>
            <a:pPr marL="201168" indent="-201168">
              <a:spcAft>
                <a:spcPts val="900"/>
              </a:spcAft>
              <a:buChar char="•"/>
            </a:pPr>
            <a:r>
              <a:rPr sz="1500" b="1" i="0">
                <a:solidFill>
                  <a:srgbClr val="1B2634"/>
                </a:solidFill>
                <a:latin typeface="Calibri"/>
              </a:rPr>
              <a:t>6</a:t>
            </a:r>
            <a:r>
              <a:rPr sz="1500" b="0" i="0">
                <a:solidFill>
                  <a:srgbClr val="1B2634"/>
                </a:solidFill>
                <a:latin typeface="Calibri"/>
              </a:rPr>
              <a:t> Validate the attention-based interpretation by perturbation, and record compute</a:t>
            </a:r>
          </a:p>
        </p:txBody>
      </p:sp>
      <p:sp>
        <p:nvSpPr>
          <p:cNvPr id="7" name="Rounded Rectangle 6"/>
          <p:cNvSpPr/>
          <p:nvPr/>
        </p:nvSpPr>
        <p:spPr>
          <a:xfrm>
            <a:off x="6675120" y="1645920"/>
            <a:ext cx="822960" cy="457200"/>
          </a:xfrm>
          <a:prstGeom prst="roundRect">
            <a:avLst>
              <a:gd name="adj" fmla="val 30000"/>
            </a:avLst>
          </a:prstGeom>
          <a:solidFill>
            <a:srgbClr val="13808B"/>
          </a:solidFill>
          <a:ln>
            <a:no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a:rPr>
              <a:t>RQ1</a:t>
            </a:r>
          </a:p>
        </p:txBody>
      </p:sp>
      <p:sp>
        <p:nvSpPr>
          <p:cNvPr id="8" name="TextBox 7"/>
          <p:cNvSpPr txBox="1"/>
          <p:nvPr/>
        </p:nvSpPr>
        <p:spPr>
          <a:xfrm>
            <a:off x="7680960" y="1627632"/>
            <a:ext cx="3931920" cy="1005840"/>
          </a:xfrm>
          <a:prstGeom prst="rect">
            <a:avLst/>
          </a:prstGeom>
          <a:noFill/>
        </p:spPr>
        <p:txBody>
          <a:bodyPr wrap="square" lIns="0" tIns="0" rIns="0" bIns="0" anchor="t">
            <a:spAutoFit/>
          </a:bodyPr>
          <a:lstStyle/>
          <a:p>
            <a:pPr algn="l"/>
            <a:r>
              <a:rPr sz="1400" b="0" i="0">
                <a:solidFill>
                  <a:srgbClr val="1B2634"/>
                </a:solidFill>
                <a:latin typeface="Calibri"/>
              </a:rPr>
              <a:t>Does attention-only scoring detect anomalies as well as reconstruction?</a:t>
            </a:r>
          </a:p>
        </p:txBody>
      </p:sp>
      <p:sp>
        <p:nvSpPr>
          <p:cNvPr id="9" name="Rounded Rectangle 8"/>
          <p:cNvSpPr/>
          <p:nvPr/>
        </p:nvSpPr>
        <p:spPr>
          <a:xfrm>
            <a:off x="6675120" y="2779776"/>
            <a:ext cx="822960" cy="457200"/>
          </a:xfrm>
          <a:prstGeom prst="roundRect">
            <a:avLst>
              <a:gd name="adj" fmla="val 30000"/>
            </a:avLst>
          </a:prstGeom>
          <a:solidFill>
            <a:srgbClr val="13808B"/>
          </a:solidFill>
          <a:ln>
            <a:no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a:rPr>
              <a:t>RQ2</a:t>
            </a:r>
          </a:p>
        </p:txBody>
      </p:sp>
      <p:sp>
        <p:nvSpPr>
          <p:cNvPr id="10" name="TextBox 9"/>
          <p:cNvSpPr txBox="1"/>
          <p:nvPr/>
        </p:nvSpPr>
        <p:spPr>
          <a:xfrm>
            <a:off x="7680960" y="2761488"/>
            <a:ext cx="3931920" cy="1005840"/>
          </a:xfrm>
          <a:prstGeom prst="rect">
            <a:avLst/>
          </a:prstGeom>
          <a:noFill/>
        </p:spPr>
        <p:txBody>
          <a:bodyPr wrap="square" lIns="0" tIns="0" rIns="0" bIns="0" anchor="t">
            <a:spAutoFit/>
          </a:bodyPr>
          <a:lstStyle/>
          <a:p>
            <a:pPr algn="l"/>
            <a:r>
              <a:rPr sz="1400" b="0" i="0">
                <a:solidFill>
                  <a:srgbClr val="1B2634"/>
                </a:solidFill>
                <a:latin typeface="Calibri"/>
              </a:rPr>
              <a:t>Does received attention rank held-out spread better than degree and PageRank?</a:t>
            </a:r>
          </a:p>
        </p:txBody>
      </p:sp>
      <p:sp>
        <p:nvSpPr>
          <p:cNvPr id="11" name="Rounded Rectangle 10"/>
          <p:cNvSpPr/>
          <p:nvPr/>
        </p:nvSpPr>
        <p:spPr>
          <a:xfrm>
            <a:off x="6675120" y="3913632"/>
            <a:ext cx="822960" cy="457200"/>
          </a:xfrm>
          <a:prstGeom prst="roundRect">
            <a:avLst>
              <a:gd name="adj" fmla="val 30000"/>
            </a:avLst>
          </a:prstGeom>
          <a:solidFill>
            <a:srgbClr val="13808B"/>
          </a:solidFill>
          <a:ln>
            <a:no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a:rPr>
              <a:t>RQ3</a:t>
            </a:r>
          </a:p>
        </p:txBody>
      </p:sp>
      <p:sp>
        <p:nvSpPr>
          <p:cNvPr id="12" name="TextBox 11"/>
          <p:cNvSpPr txBox="1"/>
          <p:nvPr/>
        </p:nvSpPr>
        <p:spPr>
          <a:xfrm>
            <a:off x="7680960" y="3895344"/>
            <a:ext cx="3931920" cy="1005840"/>
          </a:xfrm>
          <a:prstGeom prst="rect">
            <a:avLst/>
          </a:prstGeom>
          <a:noFill/>
        </p:spPr>
        <p:txBody>
          <a:bodyPr wrap="square" lIns="0" tIns="0" rIns="0" bIns="0" anchor="t">
            <a:spAutoFit/>
          </a:bodyPr>
          <a:lstStyle/>
          <a:p>
            <a:pPr algn="l"/>
            <a:r>
              <a:rPr sz="1400" b="0" i="0">
                <a:solidFill>
                  <a:srgbClr val="1B2634"/>
                </a:solidFill>
                <a:latin typeface="Calibri"/>
              </a:rPr>
              <a:t>Does joint training help either task versus task-only training?</a:t>
            </a:r>
          </a:p>
        </p:txBody>
      </p:sp>
      <p:sp>
        <p:nvSpPr>
          <p:cNvPr id="13" name="Rounded Rectangle 12"/>
          <p:cNvSpPr/>
          <p:nvPr/>
        </p:nvSpPr>
        <p:spPr>
          <a:xfrm>
            <a:off x="6675120" y="5047488"/>
            <a:ext cx="822960" cy="457200"/>
          </a:xfrm>
          <a:prstGeom prst="roundRect">
            <a:avLst>
              <a:gd name="adj" fmla="val 30000"/>
            </a:avLst>
          </a:prstGeom>
          <a:solidFill>
            <a:srgbClr val="13808B"/>
          </a:solidFill>
          <a:ln>
            <a:noFill/>
          </a:ln>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a:rPr>
              <a:t>RQ4</a:t>
            </a:r>
          </a:p>
        </p:txBody>
      </p:sp>
      <p:sp>
        <p:nvSpPr>
          <p:cNvPr id="14" name="TextBox 13"/>
          <p:cNvSpPr txBox="1"/>
          <p:nvPr/>
        </p:nvSpPr>
        <p:spPr>
          <a:xfrm>
            <a:off x="7680960" y="5029200"/>
            <a:ext cx="3931920" cy="1005840"/>
          </a:xfrm>
          <a:prstGeom prst="rect">
            <a:avLst/>
          </a:prstGeom>
          <a:noFill/>
        </p:spPr>
        <p:txBody>
          <a:bodyPr wrap="square" lIns="0" tIns="0" rIns="0" bIns="0" anchor="t">
            <a:spAutoFit/>
          </a:bodyPr>
          <a:lstStyle/>
          <a:p>
            <a:pPr algn="l"/>
            <a:r>
              <a:rPr sz="1400" b="0" i="0">
                <a:solidFill>
                  <a:srgbClr val="1B2634"/>
                </a:solidFill>
                <a:latin typeface="Calibri"/>
              </a:rPr>
              <a:t>Do high-attention edges matter more to the output than random ones?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48640" y="6446520"/>
            <a:ext cx="8229600" cy="274320"/>
          </a:xfrm>
          <a:prstGeom prst="rect">
            <a:avLst/>
          </a:prstGeom>
          <a:noFill/>
        </p:spPr>
        <p:txBody>
          <a:bodyPr wrap="square" lIns="0" tIns="0" rIns="0" bIns="0" anchor="t">
            <a:spAutoFit/>
          </a:bodyPr>
          <a:lstStyle/>
          <a:p>
            <a:pPr algn="l"/>
            <a:r>
              <a:rPr sz="900" b="0" i="0">
                <a:solidFill>
                  <a:srgbClr val="5B6878"/>
                </a:solidFill>
                <a:latin typeface="Calibri"/>
              </a:rPr>
              <a:t>Attention-driven GNN for influence and anomaly detection  |  Krish Kapoor (23MIC0023), A.M. Karthikeshwaran (23MID0215)</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r>
              <a:rPr sz="900" b="0" i="0">
                <a:solidFill>
                  <a:srgbClr val="5B6878"/>
                </a:solidFill>
                <a:latin typeface="Calibri"/>
              </a:rPr>
              <a:t>4</a:t>
            </a:r>
          </a:p>
        </p:txBody>
      </p:sp>
      <p:sp>
        <p:nvSpPr>
          <p:cNvPr id="4"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0B2545"/>
                </a:solidFill>
                <a:latin typeface="Cambria"/>
              </a:rPr>
              <a:t>Theory: message passing and attention</a:t>
            </a:r>
          </a:p>
        </p:txBody>
      </p:sp>
      <p:sp>
        <p:nvSpPr>
          <p:cNvPr id="5" name="TextBox 4"/>
          <p:cNvSpPr txBox="1"/>
          <p:nvPr/>
        </p:nvSpPr>
        <p:spPr>
          <a:xfrm>
            <a:off x="548640" y="1024128"/>
            <a:ext cx="11064240" cy="365760"/>
          </a:xfrm>
          <a:prstGeom prst="rect">
            <a:avLst/>
          </a:prstGeom>
          <a:noFill/>
        </p:spPr>
        <p:txBody>
          <a:bodyPr wrap="square" lIns="0" tIns="0" rIns="0" bIns="0" anchor="t">
            <a:spAutoFit/>
          </a:bodyPr>
          <a:lstStyle/>
          <a:p>
            <a:pPr algn="l"/>
            <a:r>
              <a:rPr sz="1500" b="0" i="0">
                <a:solidFill>
                  <a:srgbClr val="5B6878"/>
                </a:solidFill>
                <a:latin typeface="Calibri"/>
              </a:rPr>
              <a:t>Who attends to whom, and what can be summed</a:t>
            </a:r>
          </a:p>
        </p:txBody>
      </p:sp>
      <p:sp>
        <p:nvSpPr>
          <p:cNvPr id="6" name="TextBox 5"/>
          <p:cNvSpPr txBox="1"/>
          <p:nvPr/>
        </p:nvSpPr>
        <p:spPr>
          <a:xfrm>
            <a:off x="548640" y="1600200"/>
            <a:ext cx="6035040" cy="320040"/>
          </a:xfrm>
          <a:prstGeom prst="rect">
            <a:avLst/>
          </a:prstGeom>
          <a:noFill/>
        </p:spPr>
        <p:txBody>
          <a:bodyPr wrap="square" lIns="0" tIns="0" rIns="0" bIns="0" anchor="t">
            <a:spAutoFit/>
          </a:bodyPr>
          <a:lstStyle/>
          <a:p>
            <a:pPr algn="l"/>
            <a:r>
              <a:rPr sz="1400" b="1" i="0">
                <a:solidFill>
                  <a:srgbClr val="5B6878"/>
                </a:solidFill>
                <a:latin typeface="Calibri"/>
              </a:rPr>
              <a:t>GAT coefficient for the arc j → i (softmax over arcs arriving at i)</a:t>
            </a:r>
          </a:p>
        </p:txBody>
      </p:sp>
      <p:pic>
        <p:nvPicPr>
          <p:cNvPr id="7" name="Picture 6" descr="slide_att.png"/>
          <p:cNvPicPr>
            <a:picLocks noChangeAspect="1"/>
          </p:cNvPicPr>
          <p:nvPr/>
        </p:nvPicPr>
        <p:blipFill>
          <a:blip r:embed="rId3"/>
          <a:stretch>
            <a:fillRect/>
          </a:stretch>
        </p:blipFill>
        <p:spPr>
          <a:xfrm>
            <a:off x="548640" y="1965960"/>
            <a:ext cx="4088822" cy="768926"/>
          </a:xfrm>
          <a:prstGeom prst="rect">
            <a:avLst/>
          </a:prstGeom>
        </p:spPr>
      </p:pic>
      <p:sp>
        <p:nvSpPr>
          <p:cNvPr id="8" name="TextBox 7"/>
          <p:cNvSpPr txBox="1"/>
          <p:nvPr/>
        </p:nvSpPr>
        <p:spPr>
          <a:xfrm>
            <a:off x="548640" y="3246120"/>
            <a:ext cx="6035040" cy="320040"/>
          </a:xfrm>
          <a:prstGeom prst="rect">
            <a:avLst/>
          </a:prstGeom>
          <a:noFill/>
        </p:spPr>
        <p:txBody>
          <a:bodyPr wrap="square" lIns="0" tIns="0" rIns="0" bIns="0" anchor="t">
            <a:spAutoFit/>
          </a:bodyPr>
          <a:lstStyle/>
          <a:p>
            <a:pPr algn="l"/>
            <a:r>
              <a:rPr sz="1400" b="1" i="0">
                <a:solidFill>
                  <a:srgbClr val="5B6878"/>
                </a:solidFill>
                <a:latin typeface="Calibri"/>
              </a:rPr>
              <a:t>Layer update (heads concatenated)</a:t>
            </a:r>
          </a:p>
        </p:txBody>
      </p:sp>
      <p:pic>
        <p:nvPicPr>
          <p:cNvPr id="9" name="Picture 8" descr="slide_upd.png"/>
          <p:cNvPicPr>
            <a:picLocks noChangeAspect="1"/>
          </p:cNvPicPr>
          <p:nvPr/>
        </p:nvPicPr>
        <p:blipFill>
          <a:blip r:embed="rId4"/>
          <a:stretch>
            <a:fillRect/>
          </a:stretch>
        </p:blipFill>
        <p:spPr>
          <a:xfrm>
            <a:off x="548640" y="3611880"/>
            <a:ext cx="4364181" cy="716972"/>
          </a:xfrm>
          <a:prstGeom prst="rect">
            <a:avLst/>
          </a:prstGeom>
        </p:spPr>
      </p:pic>
      <p:sp>
        <p:nvSpPr>
          <p:cNvPr id="10" name="TextBox 9"/>
          <p:cNvSpPr txBox="1"/>
          <p:nvPr/>
        </p:nvSpPr>
        <p:spPr>
          <a:xfrm>
            <a:off x="548640" y="4572000"/>
            <a:ext cx="6035040" cy="320040"/>
          </a:xfrm>
          <a:prstGeom prst="rect">
            <a:avLst/>
          </a:prstGeom>
          <a:noFill/>
        </p:spPr>
        <p:txBody>
          <a:bodyPr wrap="square" lIns="0" tIns="0" rIns="0" bIns="0" anchor="t">
            <a:spAutoFit/>
          </a:bodyPr>
          <a:lstStyle/>
          <a:p>
            <a:pPr algn="l"/>
            <a:r>
              <a:rPr sz="1400" b="1" i="0">
                <a:solidFill>
                  <a:srgbClr val="5B6878"/>
                </a:solidFill>
                <a:latin typeface="Calibri"/>
              </a:rPr>
              <a:t>Received attention of a source j (our influence signal)</a:t>
            </a:r>
          </a:p>
        </p:txBody>
      </p:sp>
      <p:pic>
        <p:nvPicPr>
          <p:cNvPr id="11" name="Picture 10" descr="slide_recv.png"/>
          <p:cNvPicPr>
            <a:picLocks noChangeAspect="1"/>
          </p:cNvPicPr>
          <p:nvPr/>
        </p:nvPicPr>
        <p:blipFill>
          <a:blip r:embed="rId5"/>
          <a:stretch>
            <a:fillRect/>
          </a:stretch>
        </p:blipFill>
        <p:spPr>
          <a:xfrm>
            <a:off x="548640" y="4937760"/>
            <a:ext cx="2140527" cy="732559"/>
          </a:xfrm>
          <a:prstGeom prst="rect">
            <a:avLst/>
          </a:prstGeom>
        </p:spPr>
      </p:pic>
      <p:sp>
        <p:nvSpPr>
          <p:cNvPr id="12" name="TextBox 11"/>
          <p:cNvSpPr txBox="1"/>
          <p:nvPr/>
        </p:nvSpPr>
        <p:spPr>
          <a:xfrm>
            <a:off x="6949440" y="1645920"/>
            <a:ext cx="4754880" cy="4480560"/>
          </a:xfrm>
          <a:prstGeom prst="rect">
            <a:avLst/>
          </a:prstGeom>
          <a:noFill/>
        </p:spPr>
        <p:txBody>
          <a:bodyPr wrap="square" lIns="0" tIns="0" rIns="0" bIns="0">
            <a:spAutoFit/>
          </a:bodyPr>
          <a:lstStyle/>
          <a:p>
            <a:pPr marL="201168" indent="-201168">
              <a:spcAft>
                <a:spcPts val="900"/>
              </a:spcAft>
              <a:buChar char="•"/>
            </a:pPr>
            <a:r>
              <a:rPr sz="1400" b="1" i="0">
                <a:solidFill>
                  <a:srgbClr val="1B2634"/>
                </a:solidFill>
                <a:latin typeface="Calibri"/>
              </a:rPr>
              <a:t>GCN</a:t>
            </a:r>
            <a:r>
              <a:rPr sz="1400" b="0" i="0">
                <a:solidFill>
                  <a:srgbClr val="1B2634"/>
                </a:solidFill>
                <a:latin typeface="Calibri"/>
              </a:rPr>
              <a:t> uses fixed degree-normalised weights: not uniform, but not learned per edge</a:t>
            </a:r>
          </a:p>
          <a:p>
            <a:pPr marL="201168" indent="-201168">
              <a:spcAft>
                <a:spcPts val="900"/>
              </a:spcAft>
              <a:buChar char="•"/>
            </a:pPr>
            <a:r>
              <a:rPr sz="1400" b="1" i="0">
                <a:solidFill>
                  <a:srgbClr val="1B2634"/>
                </a:solidFill>
                <a:latin typeface="Calibri"/>
              </a:rPr>
              <a:t>GAT</a:t>
            </a:r>
            <a:r>
              <a:rPr sz="1400" b="0" i="0">
                <a:solidFill>
                  <a:srgbClr val="1B2634"/>
                </a:solidFill>
                <a:latin typeface="Calibri"/>
              </a:rPr>
              <a:t> learns the weights; </a:t>
            </a:r>
            <a:r>
              <a:rPr sz="1400" b="1" i="0">
                <a:solidFill>
                  <a:srgbClr val="1B2634"/>
                </a:solidFill>
                <a:latin typeface="Calibri"/>
              </a:rPr>
              <a:t>GATv2</a:t>
            </a:r>
            <a:r>
              <a:rPr sz="1400" b="0" i="0">
                <a:solidFill>
                  <a:srgbClr val="1B2634"/>
                </a:solidFill>
                <a:latin typeface="Calibri"/>
              </a:rPr>
              <a:t> makes the neighbour ranking depend on the query node</a:t>
            </a:r>
          </a:p>
          <a:p>
            <a:pPr marL="201168" indent="-201168">
              <a:spcAft>
                <a:spcPts val="900"/>
              </a:spcAft>
              <a:buChar char="•"/>
            </a:pPr>
            <a:r>
              <a:rPr sz="1400" b="0" i="0">
                <a:solidFill>
                  <a:srgbClr val="1B2634"/>
                </a:solidFill>
                <a:latin typeface="Calibri"/>
              </a:rPr>
              <a:t>Softmax makes the coefficients </a:t>
            </a:r>
            <a:r>
              <a:rPr sz="1400" b="1" i="0">
                <a:solidFill>
                  <a:srgbClr val="1B2634"/>
                </a:solidFill>
                <a:latin typeface="Calibri"/>
              </a:rPr>
              <a:t>arriving</a:t>
            </a:r>
            <a:r>
              <a:rPr sz="1400" b="0" i="0">
                <a:solidFill>
                  <a:srgbClr val="1B2634"/>
                </a:solidFill>
                <a:latin typeface="Calibri"/>
              </a:rPr>
              <a:t> at any node sum to 1, so summing there cannot rank nodes (unit-tested)</a:t>
            </a:r>
          </a:p>
          <a:p>
            <a:pPr marL="201168" indent="-201168">
              <a:spcAft>
                <a:spcPts val="900"/>
              </a:spcAft>
              <a:buChar char="•"/>
            </a:pPr>
            <a:r>
              <a:rPr sz="1400" b="0" i="0">
                <a:solidFill>
                  <a:srgbClr val="1B2634"/>
                </a:solidFill>
                <a:latin typeface="Calibri"/>
              </a:rPr>
              <a:t>Attention </a:t>
            </a:r>
            <a:r>
              <a:rPr sz="1400" b="1" i="0">
                <a:solidFill>
                  <a:srgbClr val="1B2634"/>
                </a:solidFill>
                <a:latin typeface="Calibri"/>
              </a:rPr>
              <a:t>leaving</a:t>
            </a:r>
            <a:r>
              <a:rPr sz="1400" b="0" i="0">
                <a:solidFill>
                  <a:srgbClr val="1B2634"/>
                </a:solidFill>
                <a:latin typeface="Calibri"/>
              </a:rPr>
              <a:t> a source, summed over its targets, can differ between nodes: that is what we rank by</a:t>
            </a:r>
          </a:p>
          <a:p>
            <a:pPr marL="201168" indent="-201168">
              <a:spcAft>
                <a:spcPts val="900"/>
              </a:spcAft>
              <a:buChar char="•"/>
            </a:pPr>
            <a:r>
              <a:rPr sz="1400" b="0" i="0">
                <a:solidFill>
                  <a:srgbClr val="1B2634"/>
                </a:solidFill>
                <a:latin typeface="Calibri"/>
              </a:rPr>
              <a:t>Attention is an </a:t>
            </a:r>
            <a:r>
              <a:rPr sz="1400" b="1" i="0">
                <a:solidFill>
                  <a:srgbClr val="1B2634"/>
                </a:solidFill>
                <a:latin typeface="Calibri"/>
              </a:rPr>
              <a:t>association</a:t>
            </a:r>
            <a:r>
              <a:rPr sz="1400" b="0" i="0">
                <a:solidFill>
                  <a:srgbClr val="1B2634"/>
                </a:solidFill>
                <a:latin typeface="Calibri"/>
              </a:rPr>
              <a:t> with the output, not automatically an explanation (Jain &amp; Wallace 2019)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48640" y="6446520"/>
            <a:ext cx="8229600" cy="274320"/>
          </a:xfrm>
          <a:prstGeom prst="rect">
            <a:avLst/>
          </a:prstGeom>
          <a:noFill/>
        </p:spPr>
        <p:txBody>
          <a:bodyPr wrap="square" lIns="0" tIns="0" rIns="0" bIns="0" anchor="t">
            <a:spAutoFit/>
          </a:bodyPr>
          <a:lstStyle/>
          <a:p>
            <a:pPr algn="l"/>
            <a:r>
              <a:rPr sz="900" b="0" i="0">
                <a:solidFill>
                  <a:srgbClr val="5B6878"/>
                </a:solidFill>
                <a:latin typeface="Calibri"/>
              </a:rPr>
              <a:t>Attention-driven GNN for influence and anomaly detection  |  Krish Kapoor (23MIC0023), A.M. Karthikeshwaran (23MID0215)</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r>
              <a:rPr sz="900" b="0" i="0">
                <a:solidFill>
                  <a:srgbClr val="5B6878"/>
                </a:solidFill>
                <a:latin typeface="Calibri"/>
              </a:rPr>
              <a:t>5</a:t>
            </a:r>
          </a:p>
        </p:txBody>
      </p:sp>
      <p:sp>
        <p:nvSpPr>
          <p:cNvPr id="4"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0B2545"/>
                </a:solidFill>
                <a:latin typeface="Cambria"/>
              </a:rPr>
              <a:t>Literature survey and the defensible gap</a:t>
            </a:r>
          </a:p>
        </p:txBody>
      </p:sp>
      <p:sp>
        <p:nvSpPr>
          <p:cNvPr id="5" name="TextBox 4"/>
          <p:cNvSpPr txBox="1"/>
          <p:nvPr/>
        </p:nvSpPr>
        <p:spPr>
          <a:xfrm>
            <a:off x="548640" y="1024128"/>
            <a:ext cx="11064240" cy="365760"/>
          </a:xfrm>
          <a:prstGeom prst="rect">
            <a:avLst/>
          </a:prstGeom>
          <a:noFill/>
        </p:spPr>
        <p:txBody>
          <a:bodyPr wrap="square" lIns="0" tIns="0" rIns="0" bIns="0" anchor="t">
            <a:spAutoFit/>
          </a:bodyPr>
          <a:lstStyle/>
          <a:p>
            <a:pPr algn="l"/>
            <a:r>
              <a:rPr sz="1500" b="0" i="0">
                <a:solidFill>
                  <a:srgbClr val="5B6878"/>
                </a:solidFill>
                <a:latin typeface="Calibri"/>
              </a:rPr>
              <a:t>Ingredients exist; our contribution is the controlled integration</a:t>
            </a:r>
          </a:p>
        </p:txBody>
      </p:sp>
      <p:graphicFrame>
        <p:nvGraphicFramePr>
          <p:cNvPr id="6" name="Table 5"/>
          <p:cNvGraphicFramePr>
            <a:graphicFrameLocks noGrp="1"/>
          </p:cNvGraphicFramePr>
          <p:nvPr/>
        </p:nvGraphicFramePr>
        <p:xfrm>
          <a:off x="548640" y="1600200"/>
          <a:ext cx="11064240" cy="3246117"/>
        </p:xfrm>
        <a:graphic>
          <a:graphicData uri="http://schemas.openxmlformats.org/drawingml/2006/table">
            <a:tbl>
              <a:tblPr>
                <a:tableStyleId>{5C22544A-7EE6-4342-B048-85BDC9FD1C3A}</a:tableStyleId>
              </a:tblPr>
              <a:tblGrid>
                <a:gridCol w="32004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63731">
                <a:tc>
                  <a:txBody>
                    <a:bodyPr/>
                    <a:lstStyle/>
                    <a:p>
                      <a:r>
                        <a:rPr sz="1300" b="1" i="0">
                          <a:solidFill>
                            <a:srgbClr val="FFFFFF"/>
                          </a:solidFill>
                          <a:latin typeface="Calibri"/>
                        </a:rPr>
                        <a:t>Work</a:t>
                      </a:r>
                    </a:p>
                  </a:txBody>
                  <a:tcPr marL="64008" marR="64008" marT="27432" marB="27432" anchor="ctr">
                    <a:solidFill>
                      <a:srgbClr val="0B2545"/>
                    </a:solidFill>
                  </a:tcPr>
                </a:tc>
                <a:tc>
                  <a:txBody>
                    <a:bodyPr/>
                    <a:lstStyle/>
                    <a:p>
                      <a:r>
                        <a:rPr sz="1300" b="1" i="0">
                          <a:solidFill>
                            <a:srgbClr val="FFFFFF"/>
                          </a:solidFill>
                          <a:latin typeface="Calibri"/>
                        </a:rPr>
                        <a:t>What it establishes</a:t>
                      </a:r>
                    </a:p>
                  </a:txBody>
                  <a:tcPr marL="64008" marR="64008" marT="27432" marB="27432" anchor="ctr">
                    <a:solidFill>
                      <a:srgbClr val="0B2545"/>
                    </a:solidFill>
                  </a:tcPr>
                </a:tc>
                <a:tc>
                  <a:txBody>
                    <a:bodyPr/>
                    <a:lstStyle/>
                    <a:p>
                      <a:r>
                        <a:rPr sz="1300" b="1" i="0">
                          <a:solidFill>
                            <a:srgbClr val="FFFFFF"/>
                          </a:solidFill>
                          <a:latin typeface="Calibri"/>
                        </a:rPr>
                        <a:t>Implication for us</a:t>
                      </a:r>
                    </a:p>
                  </a:txBody>
                  <a:tcPr marL="64008" marR="64008" marT="27432" marB="27432" anchor="ctr">
                    <a:solidFill>
                      <a:srgbClr val="0B2545"/>
                    </a:solidFill>
                  </a:tcPr>
                </a:tc>
                <a:extLst>
                  <a:ext uri="{0D108BD9-81ED-4DB2-BD59-A6C34878D82A}">
                    <a16:rowId xmlns:a16="http://schemas.microsoft.com/office/drawing/2014/main" val="10000"/>
                  </a:ext>
                </a:extLst>
              </a:tr>
              <a:tr h="463731">
                <a:tc>
                  <a:txBody>
                    <a:bodyPr/>
                    <a:lstStyle/>
                    <a:p>
                      <a:r>
                        <a:rPr sz="1300" b="0" i="0">
                          <a:solidFill>
                            <a:srgbClr val="1B2634"/>
                          </a:solidFill>
                          <a:latin typeface="Calibri"/>
                        </a:rPr>
                        <a:t>GCN, GAT, GATv2 (2017-2022)</a:t>
                      </a:r>
                    </a:p>
                  </a:txBody>
                  <a:tcPr marL="64008" marR="64008" marT="27432" marB="27432" anchor="ctr">
                    <a:solidFill>
                      <a:srgbClr val="FFFFFF"/>
                    </a:solidFill>
                  </a:tcPr>
                </a:tc>
                <a:tc>
                  <a:txBody>
                    <a:bodyPr/>
                    <a:lstStyle/>
                    <a:p>
                      <a:r>
                        <a:rPr sz="1300" b="0" i="0">
                          <a:solidFill>
                            <a:srgbClr val="1B2634"/>
                          </a:solidFill>
                          <a:latin typeface="Calibri"/>
                        </a:rPr>
                        <a:t>Fixed vs learned vs dynamic neighbour weights</a:t>
                      </a:r>
                    </a:p>
                  </a:txBody>
                  <a:tcPr marL="64008" marR="64008" marT="27432" marB="27432" anchor="ctr">
                    <a:solidFill>
                      <a:srgbClr val="FFFFFF"/>
                    </a:solidFill>
                  </a:tcPr>
                </a:tc>
                <a:tc>
                  <a:txBody>
                    <a:bodyPr/>
                    <a:lstStyle/>
                    <a:p>
                      <a:r>
                        <a:rPr sz="1300" b="0" i="0">
                          <a:solidFill>
                            <a:srgbClr val="1B2634"/>
                          </a:solidFill>
                          <a:latin typeface="Calibri"/>
                        </a:rPr>
                        <a:t>Matched encoder comparison</a:t>
                      </a:r>
                    </a:p>
                  </a:txBody>
                  <a:tcPr marL="64008" marR="64008" marT="27432" marB="27432" anchor="ctr">
                    <a:solidFill>
                      <a:srgbClr val="FFFFFF"/>
                    </a:solidFill>
                  </a:tcPr>
                </a:tc>
                <a:extLst>
                  <a:ext uri="{0D108BD9-81ED-4DB2-BD59-A6C34878D82A}">
                    <a16:rowId xmlns:a16="http://schemas.microsoft.com/office/drawing/2014/main" val="10001"/>
                  </a:ext>
                </a:extLst>
              </a:tr>
              <a:tr h="463731">
                <a:tc>
                  <a:txBody>
                    <a:bodyPr/>
                    <a:lstStyle/>
                    <a:p>
                      <a:r>
                        <a:rPr sz="1300" b="0" i="0">
                          <a:solidFill>
                            <a:srgbClr val="1B2634"/>
                          </a:solidFill>
                          <a:latin typeface="Calibri"/>
                        </a:rPr>
                        <a:t>DOMINANT, AnomalyDAE, ResGCN</a:t>
                      </a:r>
                    </a:p>
                  </a:txBody>
                  <a:tcPr marL="64008" marR="64008" marT="27432" marB="27432" anchor="ctr">
                    <a:solidFill>
                      <a:srgbClr val="E6EEF3"/>
                    </a:solidFill>
                  </a:tcPr>
                </a:tc>
                <a:tc>
                  <a:txBody>
                    <a:bodyPr/>
                    <a:lstStyle/>
                    <a:p>
                      <a:r>
                        <a:rPr sz="1300" b="0" i="0">
                          <a:solidFill>
                            <a:srgbClr val="1B2634"/>
                          </a:solidFill>
                          <a:latin typeface="Calibri"/>
                        </a:rPr>
                        <a:t>Reconstruction (and attention) for anomalies</a:t>
                      </a:r>
                    </a:p>
                  </a:txBody>
                  <a:tcPr marL="64008" marR="64008" marT="27432" marB="27432" anchor="ctr">
                    <a:solidFill>
                      <a:srgbClr val="E6EEF3"/>
                    </a:solidFill>
                  </a:tcPr>
                </a:tc>
                <a:tc>
                  <a:txBody>
                    <a:bodyPr/>
                    <a:lstStyle/>
                    <a:p>
                      <a:r>
                        <a:rPr sz="1300" b="0" i="0">
                          <a:solidFill>
                            <a:srgbClr val="1B2634"/>
                          </a:solidFill>
                          <a:latin typeface="Calibri"/>
                        </a:rPr>
                        <a:t>DOMINANT-style GCN baseline</a:t>
                      </a:r>
                    </a:p>
                  </a:txBody>
                  <a:tcPr marL="64008" marR="64008" marT="27432" marB="27432" anchor="ctr">
                    <a:solidFill>
                      <a:srgbClr val="E6EEF3"/>
                    </a:solidFill>
                  </a:tcPr>
                </a:tc>
                <a:extLst>
                  <a:ext uri="{0D108BD9-81ED-4DB2-BD59-A6C34878D82A}">
                    <a16:rowId xmlns:a16="http://schemas.microsoft.com/office/drawing/2014/main" val="10002"/>
                  </a:ext>
                </a:extLst>
              </a:tr>
              <a:tr h="463731">
                <a:tc>
                  <a:txBody>
                    <a:bodyPr/>
                    <a:lstStyle/>
                    <a:p>
                      <a:r>
                        <a:rPr sz="1300" b="0" i="0">
                          <a:solidFill>
                            <a:srgbClr val="1B2634"/>
                          </a:solidFill>
                          <a:latin typeface="Calibri"/>
                        </a:rPr>
                        <a:t>BOND / PyGOD (2022)</a:t>
                      </a:r>
                    </a:p>
                  </a:txBody>
                  <a:tcPr marL="64008" marR="64008" marT="27432" marB="27432" anchor="ctr">
                    <a:solidFill>
                      <a:srgbClr val="FFFFFF"/>
                    </a:solidFill>
                  </a:tcPr>
                </a:tc>
                <a:tc>
                  <a:txBody>
                    <a:bodyPr/>
                    <a:lstStyle/>
                    <a:p>
                      <a:r>
                        <a:rPr sz="1300" b="0" i="0">
                          <a:solidFill>
                            <a:srgbClr val="1B2634"/>
                          </a:solidFill>
                          <a:latin typeface="Calibri"/>
                        </a:rPr>
                        <a:t>Organic vs injected anomalies, consistent protocols</a:t>
                      </a:r>
                    </a:p>
                  </a:txBody>
                  <a:tcPr marL="64008" marR="64008" marT="27432" marB="27432" anchor="ctr">
                    <a:solidFill>
                      <a:srgbClr val="FFFFFF"/>
                    </a:solidFill>
                  </a:tcPr>
                </a:tc>
                <a:tc>
                  <a:txBody>
                    <a:bodyPr/>
                    <a:lstStyle/>
                    <a:p>
                      <a:r>
                        <a:rPr sz="1300" b="0" i="0">
                          <a:solidFill>
                            <a:srgbClr val="1B2634"/>
                          </a:solidFill>
                          <a:latin typeface="Calibri"/>
                        </a:rPr>
                        <a:t>Weibo (organic) + Cora (injected)</a:t>
                      </a:r>
                    </a:p>
                  </a:txBody>
                  <a:tcPr marL="64008" marR="64008" marT="27432" marB="27432" anchor="ctr">
                    <a:solidFill>
                      <a:srgbClr val="FFFFFF"/>
                    </a:solidFill>
                  </a:tcPr>
                </a:tc>
                <a:extLst>
                  <a:ext uri="{0D108BD9-81ED-4DB2-BD59-A6C34878D82A}">
                    <a16:rowId xmlns:a16="http://schemas.microsoft.com/office/drawing/2014/main" val="10003"/>
                  </a:ext>
                </a:extLst>
              </a:tr>
              <a:tr h="463731">
                <a:tc>
                  <a:txBody>
                    <a:bodyPr/>
                    <a:lstStyle/>
                    <a:p>
                      <a:r>
                        <a:rPr sz="1300" b="0" i="0">
                          <a:solidFill>
                            <a:srgbClr val="1B2634"/>
                          </a:solidFill>
                          <a:latin typeface="Calibri"/>
                        </a:rPr>
                        <a:t>DeepLinker / GANR (2019-21)</a:t>
                      </a:r>
                    </a:p>
                  </a:txBody>
                  <a:tcPr marL="64008" marR="64008" marT="27432" marB="27432" anchor="ctr">
                    <a:solidFill>
                      <a:srgbClr val="E6EEF3"/>
                    </a:solidFill>
                  </a:tcPr>
                </a:tc>
                <a:tc>
                  <a:txBody>
                    <a:bodyPr/>
                    <a:lstStyle/>
                    <a:p>
                      <a:r>
                        <a:rPr sz="1300" b="0" i="0">
                          <a:solidFill>
                            <a:srgbClr val="1B2634"/>
                          </a:solidFill>
                          <a:latin typeface="Calibri"/>
                        </a:rPr>
                        <a:t>Received attention as a node centrality</a:t>
                      </a:r>
                    </a:p>
                  </a:txBody>
                  <a:tcPr marL="64008" marR="64008" marT="27432" marB="27432" anchor="ctr">
                    <a:solidFill>
                      <a:srgbClr val="E6EEF3"/>
                    </a:solidFill>
                  </a:tcPr>
                </a:tc>
                <a:tc>
                  <a:txBody>
                    <a:bodyPr/>
                    <a:lstStyle/>
                    <a:p>
                      <a:r>
                        <a:rPr sz="1300" b="0" i="0">
                          <a:solidFill>
                            <a:srgbClr val="1B2634"/>
                          </a:solidFill>
                          <a:latin typeface="Calibri"/>
                        </a:rPr>
                        <a:t>Not new: add degree control, held-out cascades</a:t>
                      </a:r>
                    </a:p>
                  </a:txBody>
                  <a:tcPr marL="64008" marR="64008" marT="27432" marB="27432" anchor="ctr">
                    <a:solidFill>
                      <a:srgbClr val="E6EEF3"/>
                    </a:solidFill>
                  </a:tcPr>
                </a:tc>
                <a:extLst>
                  <a:ext uri="{0D108BD9-81ED-4DB2-BD59-A6C34878D82A}">
                    <a16:rowId xmlns:a16="http://schemas.microsoft.com/office/drawing/2014/main" val="10004"/>
                  </a:ext>
                </a:extLst>
              </a:tr>
              <a:tr h="463731">
                <a:tc>
                  <a:txBody>
                    <a:bodyPr/>
                    <a:lstStyle/>
                    <a:p>
                      <a:r>
                        <a:rPr sz="1300" b="0" i="0">
                          <a:solidFill>
                            <a:srgbClr val="1B2634"/>
                          </a:solidFill>
                          <a:latin typeface="Calibri"/>
                        </a:rPr>
                        <a:t>Kempe et al. (2003)</a:t>
                      </a:r>
                    </a:p>
                  </a:txBody>
                  <a:tcPr marL="64008" marR="64008" marT="27432" marB="27432" anchor="ctr">
                    <a:solidFill>
                      <a:srgbClr val="FFFFFF"/>
                    </a:solidFill>
                  </a:tcPr>
                </a:tc>
                <a:tc>
                  <a:txBody>
                    <a:bodyPr/>
                    <a:lstStyle/>
                    <a:p>
                      <a:r>
                        <a:rPr sz="1300" b="0" i="0">
                          <a:solidFill>
                            <a:srgbClr val="1B2634"/>
                          </a:solidFill>
                          <a:latin typeface="Calibri"/>
                        </a:rPr>
                        <a:t>Independent-cascade spread model</a:t>
                      </a:r>
                    </a:p>
                  </a:txBody>
                  <a:tcPr marL="64008" marR="64008" marT="27432" marB="27432" anchor="ctr">
                    <a:solidFill>
                      <a:srgbClr val="FFFFFF"/>
                    </a:solidFill>
                  </a:tcPr>
                </a:tc>
                <a:tc>
                  <a:txBody>
                    <a:bodyPr/>
                    <a:lstStyle/>
                    <a:p>
                      <a:r>
                        <a:rPr sz="1300" b="0" i="0">
                          <a:solidFill>
                            <a:srgbClr val="1B2634"/>
                          </a:solidFill>
                          <a:latin typeface="Calibri"/>
                        </a:rPr>
                        <a:t>Simulated influence target</a:t>
                      </a:r>
                    </a:p>
                  </a:txBody>
                  <a:tcPr marL="64008" marR="64008" marT="27432" marB="27432" anchor="ctr">
                    <a:solidFill>
                      <a:srgbClr val="FFFFFF"/>
                    </a:solidFill>
                  </a:tcPr>
                </a:tc>
                <a:extLst>
                  <a:ext uri="{0D108BD9-81ED-4DB2-BD59-A6C34878D82A}">
                    <a16:rowId xmlns:a16="http://schemas.microsoft.com/office/drawing/2014/main" val="10005"/>
                  </a:ext>
                </a:extLst>
              </a:tr>
              <a:tr h="463731">
                <a:tc>
                  <a:txBody>
                    <a:bodyPr/>
                    <a:lstStyle/>
                    <a:p>
                      <a:r>
                        <a:rPr sz="1300" b="0" i="0">
                          <a:solidFill>
                            <a:srgbClr val="1B2634"/>
                          </a:solidFill>
                          <a:latin typeface="Calibri"/>
                        </a:rPr>
                        <a:t>GNNExplainer, Jain &amp; Wallace</a:t>
                      </a:r>
                    </a:p>
                  </a:txBody>
                  <a:tcPr marL="64008" marR="64008" marT="27432" marB="27432" anchor="ctr">
                    <a:solidFill>
                      <a:srgbClr val="E6EEF3"/>
                    </a:solidFill>
                  </a:tcPr>
                </a:tc>
                <a:tc>
                  <a:txBody>
                    <a:bodyPr/>
                    <a:lstStyle/>
                    <a:p>
                      <a:r>
                        <a:rPr sz="1300" b="0" i="0">
                          <a:solidFill>
                            <a:srgbClr val="1B2634"/>
                          </a:solidFill>
                          <a:latin typeface="Calibri"/>
                        </a:rPr>
                        <a:t>Attention may not explain predictions</a:t>
                      </a:r>
                    </a:p>
                  </a:txBody>
                  <a:tcPr marL="64008" marR="64008" marT="27432" marB="27432" anchor="ctr">
                    <a:solidFill>
                      <a:srgbClr val="E6EEF3"/>
                    </a:solidFill>
                  </a:tcPr>
                </a:tc>
                <a:tc>
                  <a:txBody>
                    <a:bodyPr/>
                    <a:lstStyle/>
                    <a:p>
                      <a:r>
                        <a:rPr sz="1300" b="0" i="0">
                          <a:solidFill>
                            <a:srgbClr val="1B2634"/>
                          </a:solidFill>
                          <a:latin typeface="Calibri"/>
                        </a:rPr>
                        <a:t>Perturbation test of attention</a:t>
                      </a:r>
                    </a:p>
                  </a:txBody>
                  <a:tcPr marL="64008" marR="64008" marT="27432" marB="27432" anchor="ctr">
                    <a:solidFill>
                      <a:srgbClr val="E6EEF3"/>
                    </a:solidFill>
                  </a:tcPr>
                </a:tc>
                <a:extLst>
                  <a:ext uri="{0D108BD9-81ED-4DB2-BD59-A6C34878D82A}">
                    <a16:rowId xmlns:a16="http://schemas.microsoft.com/office/drawing/2014/main" val="10006"/>
                  </a:ext>
                </a:extLst>
              </a:tr>
            </a:tbl>
          </a:graphicData>
        </a:graphic>
      </p:graphicFrame>
      <p:sp>
        <p:nvSpPr>
          <p:cNvPr id="7" name="Rounded Rectangle 6"/>
          <p:cNvSpPr/>
          <p:nvPr/>
        </p:nvSpPr>
        <p:spPr>
          <a:xfrm>
            <a:off x="548640" y="5120640"/>
            <a:ext cx="11064240" cy="1143000"/>
          </a:xfrm>
          <a:prstGeom prst="roundRect">
            <a:avLst>
              <a:gd name="adj" fmla="val 8000"/>
            </a:avLst>
          </a:prstGeom>
          <a:solidFill>
            <a:srgbClr val="E6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5230368"/>
            <a:ext cx="10515600" cy="1005840"/>
          </a:xfrm>
          <a:prstGeom prst="rect">
            <a:avLst/>
          </a:prstGeom>
          <a:noFill/>
        </p:spPr>
        <p:txBody>
          <a:bodyPr wrap="square" lIns="0" tIns="0" rIns="0" bIns="0" anchor="t">
            <a:spAutoFit/>
          </a:bodyPr>
          <a:lstStyle/>
          <a:p>
            <a:pPr algn="l"/>
            <a:r>
              <a:rPr sz="1400" b="1" i="0">
                <a:solidFill>
                  <a:srgbClr val="1B2634"/>
                </a:solidFill>
                <a:latin typeface="Calibri"/>
              </a:rPr>
              <a:t>Gap we can defend:</a:t>
            </a:r>
            <a:r>
              <a:rPr sz="1400" b="0" i="0">
                <a:solidFill>
                  <a:srgbClr val="1B2634"/>
                </a:solidFill>
                <a:latin typeface="Calibri"/>
              </a:rPr>
              <a:t> one shared encoder evaluated on both tasks under one protocol, with non-attentive controls and a perturbation test. </a:t>
            </a:r>
            <a:r>
              <a:rPr sz="1400" b="1" i="0">
                <a:solidFill>
                  <a:srgbClr val="1B2634"/>
                </a:solidFill>
                <a:latin typeface="Calibri"/>
              </a:rPr>
              <a:t>Not claimed:</a:t>
            </a:r>
            <a:r>
              <a:rPr sz="1400" b="0" i="0">
                <a:solidFill>
                  <a:srgbClr val="1B2634"/>
                </a:solidFill>
                <a:latin typeface="Calibri"/>
              </a:rPr>
              <a:t> a first unified model or a new architecture.</a:t>
            </a:r>
          </a:p>
          <a:p>
            <a:pPr algn="l"/>
            <a:r>
              <a:rPr sz="1400" b="0" i="0">
                <a:solidFill>
                  <a:srgbClr val="1B2634"/>
                </a:solidFill>
                <a:latin typeface="Calibri"/>
              </a:rPr>
              <a:t>The proposal's 'Zhang et al. (2022)' citation could not be verified and is not used.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48640" y="6446520"/>
            <a:ext cx="8229600" cy="274320"/>
          </a:xfrm>
          <a:prstGeom prst="rect">
            <a:avLst/>
          </a:prstGeom>
          <a:noFill/>
        </p:spPr>
        <p:txBody>
          <a:bodyPr wrap="square" lIns="0" tIns="0" rIns="0" bIns="0" anchor="t">
            <a:spAutoFit/>
          </a:bodyPr>
          <a:lstStyle/>
          <a:p>
            <a:pPr algn="l"/>
            <a:r>
              <a:rPr sz="900" b="0" i="0">
                <a:solidFill>
                  <a:srgbClr val="5B6878"/>
                </a:solidFill>
                <a:latin typeface="Calibri"/>
              </a:rPr>
              <a:t>Attention-driven GNN for influence and anomaly detection  |  Krish Kapoor (23MIC0023), A.M. Karthikeshwaran (23MID0215)</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r>
              <a:rPr sz="900" b="0" i="0">
                <a:solidFill>
                  <a:srgbClr val="5B6878"/>
                </a:solidFill>
                <a:latin typeface="Calibri"/>
              </a:rPr>
              <a:t>6</a:t>
            </a:r>
          </a:p>
        </p:txBody>
      </p:sp>
      <p:sp>
        <p:nvSpPr>
          <p:cNvPr id="4"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0B2545"/>
                </a:solidFill>
                <a:latin typeface="Cambria"/>
              </a:rPr>
              <a:t>System architecture and functional flow</a:t>
            </a:r>
          </a:p>
        </p:txBody>
      </p:sp>
      <p:sp>
        <p:nvSpPr>
          <p:cNvPr id="5" name="TextBox 4"/>
          <p:cNvSpPr txBox="1"/>
          <p:nvPr/>
        </p:nvSpPr>
        <p:spPr>
          <a:xfrm>
            <a:off x="548640" y="1024128"/>
            <a:ext cx="11064240" cy="365760"/>
          </a:xfrm>
          <a:prstGeom prst="rect">
            <a:avLst/>
          </a:prstGeom>
          <a:noFill/>
        </p:spPr>
        <p:txBody>
          <a:bodyPr wrap="square" lIns="0" tIns="0" rIns="0" bIns="0" anchor="t">
            <a:spAutoFit/>
          </a:bodyPr>
          <a:lstStyle/>
          <a:p>
            <a:pPr algn="l"/>
            <a:r>
              <a:rPr sz="1500" b="0" i="0">
                <a:solidFill>
                  <a:srgbClr val="5B6878"/>
                </a:solidFill>
                <a:latin typeface="Calibri"/>
              </a:rPr>
              <a:t>What is actually implemented (editable shapes)</a:t>
            </a:r>
          </a:p>
        </p:txBody>
      </p:sp>
      <p:sp>
        <p:nvSpPr>
          <p:cNvPr id="6" name="TextBox 5"/>
          <p:cNvSpPr txBox="1"/>
          <p:nvPr/>
        </p:nvSpPr>
        <p:spPr>
          <a:xfrm>
            <a:off x="548640" y="1463040"/>
            <a:ext cx="5486400" cy="274320"/>
          </a:xfrm>
          <a:prstGeom prst="rect">
            <a:avLst/>
          </a:prstGeom>
          <a:noFill/>
        </p:spPr>
        <p:txBody>
          <a:bodyPr wrap="square" lIns="0" tIns="0" rIns="0" bIns="0" anchor="t">
            <a:spAutoFit/>
          </a:bodyPr>
          <a:lstStyle/>
          <a:p>
            <a:pPr algn="l"/>
            <a:r>
              <a:rPr sz="1200" b="1" i="0">
                <a:solidFill>
                  <a:srgbClr val="13808B"/>
                </a:solidFill>
                <a:latin typeface="Calibri"/>
              </a:rPr>
              <a:t>ARCHITECTURE</a:t>
            </a:r>
          </a:p>
        </p:txBody>
      </p:sp>
      <p:sp>
        <p:nvSpPr>
          <p:cNvPr id="7" name="Rounded Rectangle 6"/>
          <p:cNvSpPr/>
          <p:nvPr/>
        </p:nvSpPr>
        <p:spPr>
          <a:xfrm>
            <a:off x="548640" y="1783080"/>
            <a:ext cx="2011680" cy="1417320"/>
          </a:xfrm>
          <a:prstGeom prst="roundRect">
            <a:avLst>
              <a:gd name="adj" fmla="val 8000"/>
            </a:avLst>
          </a:prstGeom>
          <a:solidFill>
            <a:srgbClr val="FFFFFF"/>
          </a:solidFill>
          <a:ln w="15875">
            <a:solidFill>
              <a:srgbClr val="0B25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1B2634"/>
                </a:solidFill>
                <a:latin typeface="Calibri"/>
              </a:rPr>
              <a:t>Data</a:t>
            </a:r>
          </a:p>
          <a:p>
            <a:pPr algn="ctr"/>
            <a:r>
              <a:rPr sz="1200" b="0" i="0">
                <a:solidFill>
                  <a:srgbClr val="1B2634"/>
                </a:solidFill>
                <a:latin typeface="Calibri"/>
              </a:rPr>
              <a:t>Weibo (pinned, verified)</a:t>
            </a:r>
          </a:p>
          <a:p>
            <a:pPr algn="ctr"/>
            <a:r>
              <a:rPr sz="1200" b="0" i="0">
                <a:solidFill>
                  <a:srgbClr val="1B2634"/>
                </a:solidFill>
                <a:latin typeface="Calibri"/>
              </a:rPr>
              <a:t>Cora + injection</a:t>
            </a:r>
          </a:p>
          <a:p>
            <a:pPr algn="ctr"/>
            <a:r>
              <a:rPr sz="1200" b="0" i="0">
                <a:solidFill>
                  <a:srgbClr val="1B2634"/>
                </a:solidFill>
                <a:latin typeface="Calibri"/>
              </a:rPr>
              <a:t>CSV import</a:t>
            </a:r>
          </a:p>
        </p:txBody>
      </p:sp>
      <p:sp>
        <p:nvSpPr>
          <p:cNvPr id="8" name="Rounded Rectangle 7"/>
          <p:cNvSpPr/>
          <p:nvPr/>
        </p:nvSpPr>
        <p:spPr>
          <a:xfrm>
            <a:off x="2816352" y="1783080"/>
            <a:ext cx="2011680" cy="1417320"/>
          </a:xfrm>
          <a:prstGeom prst="roundRect">
            <a:avLst>
              <a:gd name="adj" fmla="val 8000"/>
            </a:avLst>
          </a:prstGeom>
          <a:solidFill>
            <a:srgbClr val="FFFFFF"/>
          </a:solidFill>
          <a:ln w="15875">
            <a:solidFill>
              <a:srgbClr val="0B25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1B2634"/>
                </a:solidFill>
                <a:latin typeface="Calibri"/>
              </a:rPr>
              <a:t>Preparation</a:t>
            </a:r>
          </a:p>
          <a:p>
            <a:pPr algn="ctr"/>
            <a:r>
              <a:rPr sz="1200" b="0" i="0">
                <a:solidFill>
                  <a:srgbClr val="1B2634"/>
                </a:solidFill>
                <a:latin typeface="Calibri"/>
              </a:rPr>
              <a:t>symmetrise, split</a:t>
            </a:r>
          </a:p>
          <a:p>
            <a:pPr algn="ctr"/>
            <a:r>
              <a:rPr sz="1200" b="0" i="0">
                <a:solidFill>
                  <a:srgbClr val="1B2634"/>
                </a:solidFill>
                <a:latin typeface="Calibri"/>
              </a:rPr>
              <a:t>normalise (train)</a:t>
            </a:r>
          </a:p>
          <a:p>
            <a:pPr algn="ctr"/>
            <a:r>
              <a:rPr sz="1200" b="0" i="0">
                <a:solidFill>
                  <a:srgbClr val="1B2634"/>
                </a:solidFill>
                <a:latin typeface="Calibri"/>
              </a:rPr>
              <a:t>cascade targets</a:t>
            </a:r>
          </a:p>
        </p:txBody>
      </p:sp>
      <p:cxnSp>
        <p:nvCxnSpPr>
          <p:cNvPr id="9" name="Connector 8"/>
          <p:cNvCxnSpPr/>
          <p:nvPr/>
        </p:nvCxnSpPr>
        <p:spPr>
          <a:xfrm>
            <a:off x="2578608" y="2487168"/>
            <a:ext cx="219456" cy="0"/>
          </a:xfrm>
          <a:prstGeom prst="line">
            <a:avLst/>
          </a:prstGeom>
          <a:ln w="19050">
            <a:solidFill>
              <a:srgbClr val="0B2545"/>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84064" y="1783080"/>
            <a:ext cx="2011680" cy="1417320"/>
          </a:xfrm>
          <a:prstGeom prst="roundRect">
            <a:avLst>
              <a:gd name="adj" fmla="val 8000"/>
            </a:avLst>
          </a:prstGeom>
          <a:solidFill>
            <a:srgbClr val="DFF0F1"/>
          </a:solidFill>
          <a:ln w="15875">
            <a:solidFill>
              <a:srgbClr val="13808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1B2634"/>
                </a:solidFill>
                <a:latin typeface="Calibri"/>
              </a:rPr>
              <a:t>Shared model</a:t>
            </a:r>
          </a:p>
          <a:p>
            <a:pPr algn="ctr"/>
            <a:r>
              <a:rPr sz="1200" b="0" i="0">
                <a:solidFill>
                  <a:srgbClr val="1B2634"/>
                </a:solidFill>
                <a:latin typeface="Calibri"/>
              </a:rPr>
              <a:t>2-layer GAT / GATv2 / GCN</a:t>
            </a:r>
          </a:p>
          <a:p>
            <a:pPr algn="ctr"/>
            <a:r>
              <a:rPr sz="1200" b="0" i="0">
                <a:solidFill>
                  <a:srgbClr val="1B2634"/>
                </a:solidFill>
                <a:latin typeface="Calibri"/>
              </a:rPr>
              <a:t>attribute, structure,</a:t>
            </a:r>
          </a:p>
          <a:p>
            <a:pPr algn="ctr"/>
            <a:r>
              <a:rPr sz="1200" b="0" i="0">
                <a:solidFill>
                  <a:srgbClr val="1B2634"/>
                </a:solidFill>
                <a:latin typeface="Calibri"/>
              </a:rPr>
              <a:t>influence heads</a:t>
            </a:r>
          </a:p>
        </p:txBody>
      </p:sp>
      <p:cxnSp>
        <p:nvCxnSpPr>
          <p:cNvPr id="11" name="Connector 10"/>
          <p:cNvCxnSpPr/>
          <p:nvPr/>
        </p:nvCxnSpPr>
        <p:spPr>
          <a:xfrm>
            <a:off x="4846320" y="2487168"/>
            <a:ext cx="219456" cy="0"/>
          </a:xfrm>
          <a:prstGeom prst="line">
            <a:avLst/>
          </a:prstGeom>
          <a:ln w="19050">
            <a:solidFill>
              <a:srgbClr val="0B2545"/>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51776" y="1783080"/>
            <a:ext cx="2011680" cy="1417320"/>
          </a:xfrm>
          <a:prstGeom prst="roundRect">
            <a:avLst>
              <a:gd name="adj" fmla="val 8000"/>
            </a:avLst>
          </a:prstGeom>
          <a:solidFill>
            <a:srgbClr val="FFFFFF"/>
          </a:solidFill>
          <a:ln w="15875">
            <a:solidFill>
              <a:srgbClr val="0B25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1B2634"/>
                </a:solidFill>
                <a:latin typeface="Calibri"/>
              </a:rPr>
              <a:t>Scoring</a:t>
            </a:r>
          </a:p>
          <a:p>
            <a:pPr algn="ctr"/>
            <a:r>
              <a:rPr sz="1200" b="0" i="0">
                <a:solidFill>
                  <a:srgbClr val="1B2634"/>
                </a:solidFill>
                <a:latin typeface="Calibri"/>
              </a:rPr>
              <a:t>anomaly scores</a:t>
            </a:r>
          </a:p>
          <a:p>
            <a:pPr algn="ctr"/>
            <a:r>
              <a:rPr sz="1200" b="0" i="0">
                <a:solidFill>
                  <a:srgbClr val="1B2634"/>
                </a:solidFill>
                <a:latin typeface="Calibri"/>
              </a:rPr>
              <a:t>received attention</a:t>
            </a:r>
          </a:p>
          <a:p>
            <a:pPr algn="ctr"/>
            <a:r>
              <a:rPr sz="1200" b="0" i="0">
                <a:solidFill>
                  <a:srgbClr val="1B2634"/>
                </a:solidFill>
                <a:latin typeface="Calibri"/>
              </a:rPr>
              <a:t>validation threshold</a:t>
            </a:r>
          </a:p>
        </p:txBody>
      </p:sp>
      <p:cxnSp>
        <p:nvCxnSpPr>
          <p:cNvPr id="13" name="Connector 12"/>
          <p:cNvCxnSpPr/>
          <p:nvPr/>
        </p:nvCxnSpPr>
        <p:spPr>
          <a:xfrm>
            <a:off x="7114032" y="2487168"/>
            <a:ext cx="219456" cy="0"/>
          </a:xfrm>
          <a:prstGeom prst="line">
            <a:avLst/>
          </a:prstGeom>
          <a:ln w="19050">
            <a:solidFill>
              <a:srgbClr val="0B2545"/>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619488" y="1783080"/>
            <a:ext cx="2011680" cy="1417320"/>
          </a:xfrm>
          <a:prstGeom prst="roundRect">
            <a:avLst>
              <a:gd name="adj" fmla="val 8000"/>
            </a:avLst>
          </a:prstGeom>
          <a:solidFill>
            <a:srgbClr val="FFFFFF"/>
          </a:solidFill>
          <a:ln w="15875">
            <a:solidFill>
              <a:srgbClr val="0B25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1B2634"/>
                </a:solidFill>
                <a:latin typeface="Calibri"/>
              </a:rPr>
              <a:t>Evidence + UI</a:t>
            </a:r>
          </a:p>
          <a:p>
            <a:pPr algn="ctr"/>
            <a:r>
              <a:rPr sz="1200" b="0" i="0">
                <a:solidFill>
                  <a:srgbClr val="1B2634"/>
                </a:solidFill>
                <a:latin typeface="Calibri"/>
              </a:rPr>
              <a:t>run records, tables</a:t>
            </a:r>
          </a:p>
          <a:p>
            <a:pPr algn="ctr"/>
            <a:r>
              <a:rPr sz="1200" b="0" i="0">
                <a:solidFill>
                  <a:srgbClr val="1B2634"/>
                </a:solidFill>
                <a:latin typeface="Calibri"/>
              </a:rPr>
              <a:t>Streamlit dashboard</a:t>
            </a:r>
          </a:p>
          <a:p>
            <a:pPr algn="ctr"/>
            <a:r>
              <a:rPr sz="1200" b="0" i="0">
                <a:solidFill>
                  <a:srgbClr val="1B2634"/>
                </a:solidFill>
                <a:latin typeface="Calibri"/>
              </a:rPr>
              <a:t>report, slides</a:t>
            </a:r>
          </a:p>
        </p:txBody>
      </p:sp>
      <p:cxnSp>
        <p:nvCxnSpPr>
          <p:cNvPr id="15" name="Connector 14"/>
          <p:cNvCxnSpPr/>
          <p:nvPr/>
        </p:nvCxnSpPr>
        <p:spPr>
          <a:xfrm>
            <a:off x="9381744" y="2487168"/>
            <a:ext cx="219456" cy="0"/>
          </a:xfrm>
          <a:prstGeom prst="line">
            <a:avLst/>
          </a:prstGeom>
          <a:ln w="19050">
            <a:solidFill>
              <a:srgbClr val="0B2545"/>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3520440"/>
            <a:ext cx="5486400" cy="274320"/>
          </a:xfrm>
          <a:prstGeom prst="rect">
            <a:avLst/>
          </a:prstGeom>
          <a:noFill/>
        </p:spPr>
        <p:txBody>
          <a:bodyPr wrap="square" lIns="0" tIns="0" rIns="0" bIns="0" anchor="t">
            <a:spAutoFit/>
          </a:bodyPr>
          <a:lstStyle/>
          <a:p>
            <a:pPr algn="l"/>
            <a:r>
              <a:rPr sz="1200" b="1" i="0">
                <a:solidFill>
                  <a:srgbClr val="13808B"/>
                </a:solidFill>
                <a:latin typeface="Calibri"/>
              </a:rPr>
              <a:t>FUNCTIONAL FLOW</a:t>
            </a:r>
          </a:p>
        </p:txBody>
      </p:sp>
      <p:sp>
        <p:nvSpPr>
          <p:cNvPr id="17" name="Rounded Rectangle 16"/>
          <p:cNvSpPr/>
          <p:nvPr/>
        </p:nvSpPr>
        <p:spPr>
          <a:xfrm>
            <a:off x="548640" y="3840480"/>
            <a:ext cx="1664208" cy="1554480"/>
          </a:xfrm>
          <a:prstGeom prst="roundRect">
            <a:avLst>
              <a:gd name="adj" fmla="val 8000"/>
            </a:avLst>
          </a:prstGeom>
          <a:solidFill>
            <a:srgbClr val="DFF0F1"/>
          </a:solidFill>
          <a:ln w="15875">
            <a:solidFill>
              <a:srgbClr val="0B25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1B2634"/>
                </a:solidFill>
                <a:latin typeface="Calibri"/>
              </a:rPr>
              <a:t>Train</a:t>
            </a:r>
          </a:p>
          <a:p>
            <a:pPr algn="ctr"/>
            <a:r>
              <a:rPr sz="1200" b="0" i="0">
                <a:solidFill>
                  <a:srgbClr val="1B2634"/>
                </a:solidFill>
                <a:latin typeface="Calibri"/>
              </a:rPr>
              <a:t>unsupervised</a:t>
            </a:r>
          </a:p>
          <a:p>
            <a:pPr algn="ctr"/>
            <a:r>
              <a:rPr sz="1200" b="0" i="0">
                <a:solidFill>
                  <a:srgbClr val="1B2634"/>
                </a:solidFill>
                <a:latin typeface="Calibri"/>
              </a:rPr>
              <a:t>losses + train</a:t>
            </a:r>
          </a:p>
          <a:p>
            <a:pPr algn="ctr"/>
            <a:r>
              <a:rPr sz="1200" b="0" i="0">
                <a:solidFill>
                  <a:srgbClr val="1B2634"/>
                </a:solidFill>
                <a:latin typeface="Calibri"/>
              </a:rPr>
              <a:t>cascade targets</a:t>
            </a:r>
          </a:p>
        </p:txBody>
      </p:sp>
      <p:sp>
        <p:nvSpPr>
          <p:cNvPr id="18" name="Rounded Rectangle 17"/>
          <p:cNvSpPr/>
          <p:nvPr/>
        </p:nvSpPr>
        <p:spPr>
          <a:xfrm>
            <a:off x="2432304" y="3840480"/>
            <a:ext cx="1664208" cy="1554480"/>
          </a:xfrm>
          <a:prstGeom prst="roundRect">
            <a:avLst>
              <a:gd name="adj" fmla="val 8000"/>
            </a:avLst>
          </a:prstGeom>
          <a:solidFill>
            <a:srgbClr val="FFF4E5"/>
          </a:solidFill>
          <a:ln w="15875">
            <a:solidFill>
              <a:srgbClr val="D9822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1B2634"/>
                </a:solidFill>
                <a:latin typeface="Calibri"/>
              </a:rPr>
              <a:t>Select</a:t>
            </a:r>
          </a:p>
          <a:p>
            <a:pPr algn="ctr"/>
            <a:r>
              <a:rPr sz="1200" b="0" i="0">
                <a:solidFill>
                  <a:srgbClr val="1B2634"/>
                </a:solidFill>
                <a:latin typeface="Calibri"/>
              </a:rPr>
              <a:t>validation labels:</a:t>
            </a:r>
          </a:p>
          <a:p>
            <a:pPr algn="ctr"/>
            <a:r>
              <a:rPr sz="1200" b="0" i="0">
                <a:solidFill>
                  <a:srgbClr val="1B2634"/>
                </a:solidFill>
                <a:latin typeface="Calibri"/>
              </a:rPr>
              <a:t>alpha, threshold</a:t>
            </a:r>
          </a:p>
          <a:p>
            <a:pPr algn="ctr"/>
            <a:r>
              <a:rPr sz="1200" b="0" i="0">
                <a:solidFill>
                  <a:srgbClr val="1B2634"/>
                </a:solidFill>
                <a:latin typeface="Calibri"/>
              </a:rPr>
              <a:t>(then frozen)</a:t>
            </a:r>
          </a:p>
        </p:txBody>
      </p:sp>
      <p:cxnSp>
        <p:nvCxnSpPr>
          <p:cNvPr id="19" name="Connector 18"/>
          <p:cNvCxnSpPr/>
          <p:nvPr/>
        </p:nvCxnSpPr>
        <p:spPr>
          <a:xfrm>
            <a:off x="2231136" y="4617720"/>
            <a:ext cx="182880" cy="0"/>
          </a:xfrm>
          <a:prstGeom prst="line">
            <a:avLst/>
          </a:prstGeom>
          <a:ln w="19050">
            <a:solidFill>
              <a:srgbClr val="0B2545"/>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315968" y="3840480"/>
            <a:ext cx="1664208" cy="1554480"/>
          </a:xfrm>
          <a:prstGeom prst="roundRect">
            <a:avLst>
              <a:gd name="adj" fmla="val 8000"/>
            </a:avLst>
          </a:prstGeom>
          <a:solidFill>
            <a:srgbClr val="FFFFFF"/>
          </a:solidFill>
          <a:ln w="15875">
            <a:solidFill>
              <a:srgbClr val="0B25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1B2634"/>
                </a:solidFill>
                <a:latin typeface="Calibri"/>
              </a:rPr>
              <a:t>Extract</a:t>
            </a:r>
          </a:p>
          <a:p>
            <a:pPr algn="ctr"/>
            <a:r>
              <a:rPr sz="1200" b="0" i="0">
                <a:solidFill>
                  <a:srgbClr val="1B2634"/>
                </a:solidFill>
                <a:latin typeface="Calibri"/>
              </a:rPr>
              <a:t>attention per</a:t>
            </a:r>
          </a:p>
          <a:p>
            <a:pPr algn="ctr"/>
            <a:r>
              <a:rPr sz="1200" b="0" i="0">
                <a:solidFill>
                  <a:srgbClr val="1B2634"/>
                </a:solidFill>
                <a:latin typeface="Calibri"/>
              </a:rPr>
              <a:t>layer, head, arc</a:t>
            </a:r>
          </a:p>
        </p:txBody>
      </p:sp>
      <p:cxnSp>
        <p:nvCxnSpPr>
          <p:cNvPr id="21" name="Connector 20"/>
          <p:cNvCxnSpPr/>
          <p:nvPr/>
        </p:nvCxnSpPr>
        <p:spPr>
          <a:xfrm>
            <a:off x="4114800" y="4617720"/>
            <a:ext cx="182880" cy="0"/>
          </a:xfrm>
          <a:prstGeom prst="line">
            <a:avLst/>
          </a:prstGeom>
          <a:ln w="19050">
            <a:solidFill>
              <a:srgbClr val="0B2545"/>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99631" y="3840480"/>
            <a:ext cx="1664208" cy="1554480"/>
          </a:xfrm>
          <a:prstGeom prst="roundRect">
            <a:avLst>
              <a:gd name="adj" fmla="val 8000"/>
            </a:avLst>
          </a:prstGeom>
          <a:solidFill>
            <a:srgbClr val="FFFFFF"/>
          </a:solidFill>
          <a:ln w="15875">
            <a:solidFill>
              <a:srgbClr val="0B25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1B2634"/>
                </a:solidFill>
                <a:latin typeface="Calibri"/>
              </a:rPr>
              <a:t>Score</a:t>
            </a:r>
          </a:p>
          <a:p>
            <a:pPr algn="ctr"/>
            <a:r>
              <a:rPr sz="1200" b="0" i="0">
                <a:solidFill>
                  <a:srgbClr val="1B2634"/>
                </a:solidFill>
                <a:latin typeface="Calibri"/>
              </a:rPr>
              <a:t>rec | attention-only</a:t>
            </a:r>
          </a:p>
          <a:p>
            <a:pPr algn="ctr"/>
            <a:r>
              <a:rPr sz="1200" b="0" i="0">
                <a:solidFill>
                  <a:srgbClr val="1B2634"/>
                </a:solidFill>
                <a:latin typeface="Calibri"/>
              </a:rPr>
              <a:t>| combined; R_j raw</a:t>
            </a:r>
          </a:p>
          <a:p>
            <a:pPr algn="ctr"/>
            <a:r>
              <a:rPr sz="1200" b="0" i="0">
                <a:solidFill>
                  <a:srgbClr val="1B2634"/>
                </a:solidFill>
                <a:latin typeface="Calibri"/>
              </a:rPr>
              <a:t>and adjusted</a:t>
            </a:r>
          </a:p>
        </p:txBody>
      </p:sp>
      <p:cxnSp>
        <p:nvCxnSpPr>
          <p:cNvPr id="23" name="Connector 22"/>
          <p:cNvCxnSpPr/>
          <p:nvPr/>
        </p:nvCxnSpPr>
        <p:spPr>
          <a:xfrm>
            <a:off x="5998464" y="4617720"/>
            <a:ext cx="182880" cy="0"/>
          </a:xfrm>
          <a:prstGeom prst="line">
            <a:avLst/>
          </a:prstGeom>
          <a:ln w="19050">
            <a:solidFill>
              <a:srgbClr val="0B2545"/>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083296" y="3840480"/>
            <a:ext cx="1664208" cy="1554480"/>
          </a:xfrm>
          <a:prstGeom prst="roundRect">
            <a:avLst>
              <a:gd name="adj" fmla="val 8000"/>
            </a:avLst>
          </a:prstGeom>
          <a:solidFill>
            <a:srgbClr val="FFFFFF"/>
          </a:solidFill>
          <a:ln w="15875">
            <a:solidFill>
              <a:srgbClr val="0B25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1B2634"/>
                </a:solidFill>
                <a:latin typeface="Calibri"/>
              </a:rPr>
              <a:t>Evaluate</a:t>
            </a:r>
          </a:p>
          <a:p>
            <a:pPr algn="ctr"/>
            <a:r>
              <a:rPr sz="1200" b="0" i="0">
                <a:solidFill>
                  <a:srgbClr val="1B2634"/>
                </a:solidFill>
                <a:latin typeface="Calibri"/>
              </a:rPr>
              <a:t>same test nodes for</a:t>
            </a:r>
          </a:p>
          <a:p>
            <a:pPr algn="ctr"/>
            <a:r>
              <a:rPr sz="1200" b="0" i="0">
                <a:solidFill>
                  <a:srgbClr val="1B2634"/>
                </a:solidFill>
                <a:latin typeface="Calibri"/>
              </a:rPr>
              <a:t>all methods</a:t>
            </a:r>
          </a:p>
        </p:txBody>
      </p:sp>
      <p:cxnSp>
        <p:nvCxnSpPr>
          <p:cNvPr id="25" name="Connector 24"/>
          <p:cNvCxnSpPr/>
          <p:nvPr/>
        </p:nvCxnSpPr>
        <p:spPr>
          <a:xfrm>
            <a:off x="7882127" y="4617720"/>
            <a:ext cx="182881" cy="0"/>
          </a:xfrm>
          <a:prstGeom prst="line">
            <a:avLst/>
          </a:prstGeom>
          <a:ln w="19050">
            <a:solidFill>
              <a:srgbClr val="0B2545"/>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966960" y="3840480"/>
            <a:ext cx="1664208" cy="1554480"/>
          </a:xfrm>
          <a:prstGeom prst="roundRect">
            <a:avLst>
              <a:gd name="adj" fmla="val 8000"/>
            </a:avLst>
          </a:prstGeom>
          <a:solidFill>
            <a:srgbClr val="FFFFFF"/>
          </a:solidFill>
          <a:ln w="15875">
            <a:solidFill>
              <a:srgbClr val="0B2545"/>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1B2634"/>
                </a:solidFill>
                <a:latin typeface="Calibri"/>
              </a:rPr>
              <a:t>Perturb</a:t>
            </a:r>
          </a:p>
          <a:p>
            <a:pPr algn="ctr"/>
            <a:r>
              <a:rPr sz="1200" b="0" i="0">
                <a:solidFill>
                  <a:srgbClr val="1B2634"/>
                </a:solidFill>
                <a:latin typeface="Calibri"/>
              </a:rPr>
              <a:t>remove high / random</a:t>
            </a:r>
          </a:p>
          <a:p>
            <a:pPr algn="ctr"/>
            <a:r>
              <a:rPr sz="1200" b="0" i="0">
                <a:solidFill>
                  <a:srgbClr val="1B2634"/>
                </a:solidFill>
                <a:latin typeface="Calibri"/>
              </a:rPr>
              <a:t>/ low attention</a:t>
            </a:r>
          </a:p>
          <a:p>
            <a:pPr algn="ctr"/>
            <a:r>
              <a:rPr sz="1200" b="0" i="0">
                <a:solidFill>
                  <a:srgbClr val="1B2634"/>
                </a:solidFill>
                <a:latin typeface="Calibri"/>
              </a:rPr>
              <a:t>edges</a:t>
            </a:r>
          </a:p>
        </p:txBody>
      </p:sp>
      <p:cxnSp>
        <p:nvCxnSpPr>
          <p:cNvPr id="27" name="Connector 26"/>
          <p:cNvCxnSpPr/>
          <p:nvPr/>
        </p:nvCxnSpPr>
        <p:spPr>
          <a:xfrm>
            <a:off x="9765792" y="4617720"/>
            <a:ext cx="182880" cy="0"/>
          </a:xfrm>
          <a:prstGeom prst="line">
            <a:avLst/>
          </a:prstGeom>
          <a:ln w="19050">
            <a:solidFill>
              <a:srgbClr val="0B2545"/>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5669280"/>
            <a:ext cx="11064240" cy="548640"/>
          </a:xfrm>
          <a:prstGeom prst="rect">
            <a:avLst/>
          </a:prstGeom>
          <a:noFill/>
        </p:spPr>
        <p:txBody>
          <a:bodyPr wrap="square" lIns="0" tIns="0" rIns="0" bIns="0" anchor="t">
            <a:spAutoFit/>
          </a:bodyPr>
          <a:lstStyle/>
          <a:p>
            <a:pPr algn="l"/>
            <a:r>
              <a:rPr sz="1300" b="0" i="1">
                <a:solidFill>
                  <a:srgbClr val="5B6878"/>
                </a:solidFill>
                <a:latin typeface="Calibri"/>
              </a:rPr>
              <a:t>Labels enter only at 'Select' (validation) and 'Evaluate' (test). The encoder never sees anomaly labels; validation or test nodes' influence targets are never used for training.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48640" y="6446520"/>
            <a:ext cx="8229600" cy="274320"/>
          </a:xfrm>
          <a:prstGeom prst="rect">
            <a:avLst/>
          </a:prstGeom>
          <a:noFill/>
        </p:spPr>
        <p:txBody>
          <a:bodyPr wrap="square" lIns="0" tIns="0" rIns="0" bIns="0" anchor="t">
            <a:spAutoFit/>
          </a:bodyPr>
          <a:lstStyle/>
          <a:p>
            <a:pPr algn="l"/>
            <a:r>
              <a:rPr sz="900" b="0" i="0">
                <a:solidFill>
                  <a:srgbClr val="5B6878"/>
                </a:solidFill>
                <a:latin typeface="Calibri"/>
              </a:rPr>
              <a:t>Attention-driven GNN for influence and anomaly detection  |  Krish Kapoor (23MIC0023), A.M. Karthikeshwaran (23MID0215)</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r>
              <a:rPr sz="900" b="0" i="0">
                <a:solidFill>
                  <a:srgbClr val="5B6878"/>
                </a:solidFill>
                <a:latin typeface="Calibri"/>
              </a:rPr>
              <a:t>7</a:t>
            </a:r>
          </a:p>
        </p:txBody>
      </p:sp>
      <p:sp>
        <p:nvSpPr>
          <p:cNvPr id="4"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0B2545"/>
                </a:solidFill>
                <a:latin typeface="Cambria"/>
              </a:rPr>
              <a:t>Methodology: scoring equations and objectives</a:t>
            </a:r>
          </a:p>
        </p:txBody>
      </p:sp>
      <p:sp>
        <p:nvSpPr>
          <p:cNvPr id="5" name="TextBox 4"/>
          <p:cNvSpPr txBox="1"/>
          <p:nvPr/>
        </p:nvSpPr>
        <p:spPr>
          <a:xfrm>
            <a:off x="548640" y="1024128"/>
            <a:ext cx="11064240" cy="365760"/>
          </a:xfrm>
          <a:prstGeom prst="rect">
            <a:avLst/>
          </a:prstGeom>
          <a:noFill/>
        </p:spPr>
        <p:txBody>
          <a:bodyPr wrap="square" lIns="0" tIns="0" rIns="0" bIns="0" anchor="t">
            <a:spAutoFit/>
          </a:bodyPr>
          <a:lstStyle/>
          <a:p>
            <a:pPr algn="l"/>
            <a:r>
              <a:rPr sz="1500" b="0" i="0">
                <a:solidFill>
                  <a:srgbClr val="5B6878"/>
                </a:solidFill>
                <a:latin typeface="Calibri"/>
              </a:rPr>
              <a:t>Definitions fixed before the benchmark runs</a:t>
            </a:r>
          </a:p>
        </p:txBody>
      </p:sp>
      <p:sp>
        <p:nvSpPr>
          <p:cNvPr id="6" name="TextBox 5"/>
          <p:cNvSpPr txBox="1"/>
          <p:nvPr/>
        </p:nvSpPr>
        <p:spPr>
          <a:xfrm>
            <a:off x="548640" y="1554480"/>
            <a:ext cx="5760720" cy="274320"/>
          </a:xfrm>
          <a:prstGeom prst="rect">
            <a:avLst/>
          </a:prstGeom>
          <a:noFill/>
        </p:spPr>
        <p:txBody>
          <a:bodyPr wrap="square" lIns="0" tIns="0" rIns="0" bIns="0" anchor="t">
            <a:spAutoFit/>
          </a:bodyPr>
          <a:lstStyle/>
          <a:p>
            <a:pPr algn="l"/>
            <a:r>
              <a:rPr sz="1300" b="1" i="0">
                <a:solidFill>
                  <a:srgbClr val="5B6878"/>
                </a:solidFill>
                <a:latin typeface="Calibri"/>
              </a:rPr>
              <a:t>Training objective (shared encoder, three losses)</a:t>
            </a:r>
          </a:p>
        </p:txBody>
      </p:sp>
      <p:pic>
        <p:nvPicPr>
          <p:cNvPr id="7" name="Picture 6" descr="slide_loss.png"/>
          <p:cNvPicPr>
            <a:picLocks noChangeAspect="1"/>
          </p:cNvPicPr>
          <p:nvPr/>
        </p:nvPicPr>
        <p:blipFill>
          <a:blip r:embed="rId3"/>
          <a:stretch>
            <a:fillRect/>
          </a:stretch>
        </p:blipFill>
        <p:spPr>
          <a:xfrm>
            <a:off x="548640" y="1874519"/>
            <a:ext cx="5086350" cy="384462"/>
          </a:xfrm>
          <a:prstGeom prst="rect">
            <a:avLst/>
          </a:prstGeom>
        </p:spPr>
      </p:pic>
      <p:sp>
        <p:nvSpPr>
          <p:cNvPr id="8" name="TextBox 7"/>
          <p:cNvSpPr txBox="1"/>
          <p:nvPr/>
        </p:nvSpPr>
        <p:spPr>
          <a:xfrm>
            <a:off x="548640" y="2697480"/>
            <a:ext cx="5760720" cy="274320"/>
          </a:xfrm>
          <a:prstGeom prst="rect">
            <a:avLst/>
          </a:prstGeom>
          <a:noFill/>
        </p:spPr>
        <p:txBody>
          <a:bodyPr wrap="square" lIns="0" tIns="0" rIns="0" bIns="0" anchor="t">
            <a:spAutoFit/>
          </a:bodyPr>
          <a:lstStyle/>
          <a:p>
            <a:pPr algn="l"/>
            <a:r>
              <a:rPr sz="1300" b="1" i="0">
                <a:solidFill>
                  <a:srgbClr val="5B6878"/>
                </a:solidFill>
                <a:latin typeface="Calibri"/>
              </a:rPr>
              <a:t>Attention-only anomaly score (no decoder output)</a:t>
            </a:r>
          </a:p>
        </p:txBody>
      </p:sp>
      <p:pic>
        <p:nvPicPr>
          <p:cNvPr id="9" name="Picture 8" descr="slide_satt.png"/>
          <p:cNvPicPr>
            <a:picLocks noChangeAspect="1"/>
          </p:cNvPicPr>
          <p:nvPr/>
        </p:nvPicPr>
        <p:blipFill>
          <a:blip r:embed="rId4"/>
          <a:stretch>
            <a:fillRect/>
          </a:stretch>
        </p:blipFill>
        <p:spPr>
          <a:xfrm>
            <a:off x="548640" y="3017520"/>
            <a:ext cx="3454977" cy="722168"/>
          </a:xfrm>
          <a:prstGeom prst="rect">
            <a:avLst/>
          </a:prstGeom>
        </p:spPr>
      </p:pic>
      <p:sp>
        <p:nvSpPr>
          <p:cNvPr id="10" name="TextBox 9"/>
          <p:cNvSpPr txBox="1"/>
          <p:nvPr/>
        </p:nvSpPr>
        <p:spPr>
          <a:xfrm>
            <a:off x="548640" y="4160520"/>
            <a:ext cx="5760720" cy="274320"/>
          </a:xfrm>
          <a:prstGeom prst="rect">
            <a:avLst/>
          </a:prstGeom>
          <a:noFill/>
        </p:spPr>
        <p:txBody>
          <a:bodyPr wrap="square" lIns="0" tIns="0" rIns="0" bIns="0" anchor="t">
            <a:spAutoFit/>
          </a:bodyPr>
          <a:lstStyle/>
          <a:p>
            <a:pPr algn="l"/>
            <a:r>
              <a:rPr sz="1300" b="1" i="0">
                <a:solidFill>
                  <a:srgbClr val="5B6878"/>
                </a:solidFill>
                <a:latin typeface="Calibri"/>
              </a:rPr>
              <a:t>Reconstruction and combined scores</a:t>
            </a:r>
          </a:p>
        </p:txBody>
      </p:sp>
      <p:pic>
        <p:nvPicPr>
          <p:cNvPr id="11" name="Picture 10" descr="slide_srec.png"/>
          <p:cNvPicPr>
            <a:picLocks noChangeAspect="1"/>
          </p:cNvPicPr>
          <p:nvPr/>
        </p:nvPicPr>
        <p:blipFill>
          <a:blip r:embed="rId5"/>
          <a:stretch>
            <a:fillRect/>
          </a:stretch>
        </p:blipFill>
        <p:spPr>
          <a:xfrm>
            <a:off x="548640" y="4480560"/>
            <a:ext cx="5760720" cy="318472"/>
          </a:xfrm>
          <a:prstGeom prst="rect">
            <a:avLst/>
          </a:prstGeom>
        </p:spPr>
      </p:pic>
      <p:sp>
        <p:nvSpPr>
          <p:cNvPr id="12" name="TextBox 11"/>
          <p:cNvSpPr txBox="1"/>
          <p:nvPr/>
        </p:nvSpPr>
        <p:spPr>
          <a:xfrm>
            <a:off x="6675120" y="1645920"/>
            <a:ext cx="5029200" cy="4480560"/>
          </a:xfrm>
          <a:prstGeom prst="rect">
            <a:avLst/>
          </a:prstGeom>
          <a:noFill/>
        </p:spPr>
        <p:txBody>
          <a:bodyPr wrap="square" lIns="0" tIns="0" rIns="0" bIns="0">
            <a:spAutoFit/>
          </a:bodyPr>
          <a:lstStyle/>
          <a:p>
            <a:pPr marL="201168" indent="-201168">
              <a:spcAft>
                <a:spcPts val="700"/>
              </a:spcAft>
              <a:buChar char="•"/>
            </a:pPr>
            <a:r>
              <a:rPr sz="1350" b="0" i="0">
                <a:solidFill>
                  <a:srgbClr val="1B2634"/>
                </a:solidFill>
                <a:latin typeface="Calibri"/>
              </a:rPr>
              <a:t>Encoder: 2 layers, width 64; GAT 4 heads × 16; GATv2 and GCN as controls</a:t>
            </a:r>
          </a:p>
          <a:p>
            <a:pPr marL="201168" indent="-201168">
              <a:spcAft>
                <a:spcPts val="700"/>
              </a:spcAft>
              <a:buChar char="•"/>
            </a:pPr>
            <a:r>
              <a:rPr sz="1350" b="0" i="0">
                <a:solidFill>
                  <a:srgbClr val="1B2634"/>
                </a:solidFill>
                <a:latin typeface="Calibri"/>
              </a:rPr>
              <a:t>Structure loss on </a:t>
            </a:r>
            <a:r>
              <a:rPr sz="1350" b="1" i="0">
                <a:solidFill>
                  <a:srgbClr val="1B2634"/>
                </a:solidFill>
                <a:latin typeface="Calibri"/>
              </a:rPr>
              <a:t>sampled</a:t>
            </a:r>
            <a:r>
              <a:rPr sz="1350" b="0" i="0">
                <a:solidFill>
                  <a:srgbClr val="1B2634"/>
                </a:solidFill>
                <a:latin typeface="Calibri"/>
              </a:rPr>
              <a:t> edges and non-edges (1:1): no dense N×N matrix</a:t>
            </a:r>
          </a:p>
          <a:p>
            <a:pPr marL="201168" indent="-201168">
              <a:spcAft>
                <a:spcPts val="700"/>
              </a:spcAft>
              <a:buChar char="•"/>
            </a:pPr>
            <a:r>
              <a:rPr sz="1350" b="0" i="0">
                <a:solidFill>
                  <a:srgbClr val="1B2634"/>
                </a:solidFill>
                <a:latin typeface="Calibri"/>
              </a:rPr>
              <a:t>Influence head trained on </a:t>
            </a:r>
            <a:r>
              <a:rPr sz="1350" b="1" i="0">
                <a:solidFill>
                  <a:srgbClr val="1B2634"/>
                </a:solidFill>
                <a:latin typeface="Calibri"/>
              </a:rPr>
              <a:t>train-node</a:t>
            </a:r>
            <a:r>
              <a:rPr sz="1350" b="0" i="0">
                <a:solidFill>
                  <a:srgbClr val="1B2634"/>
                </a:solidFill>
                <a:latin typeface="Calibri"/>
              </a:rPr>
              <a:t> cascade targets only</a:t>
            </a:r>
          </a:p>
          <a:p>
            <a:pPr marL="201168" indent="-201168">
              <a:spcAft>
                <a:spcPts val="700"/>
              </a:spcAft>
              <a:buChar char="•"/>
            </a:pPr>
            <a:r>
              <a:rPr sz="1350" b="0" i="0">
                <a:solidFill>
                  <a:srgbClr val="1B2634"/>
                </a:solidFill>
                <a:latin typeface="Calibri"/>
              </a:rPr>
              <a:t>Each loss sends gradient into the shared encoder (unit-tested)</a:t>
            </a:r>
          </a:p>
          <a:p>
            <a:pPr marL="201168" indent="-201168">
              <a:spcAft>
                <a:spcPts val="700"/>
              </a:spcAft>
              <a:buChar char="•"/>
            </a:pPr>
            <a:r>
              <a:rPr sz="1350" b="0" i="0">
                <a:solidFill>
                  <a:srgbClr val="1B2634"/>
                </a:solidFill>
                <a:latin typeface="Calibri"/>
              </a:rPr>
              <a:t>Joint model = our extension; attention-only scores test the proposal's stronger claim</a:t>
            </a:r>
          </a:p>
          <a:p>
            <a:pPr marL="201168" indent="-201168">
              <a:spcAft>
                <a:spcPts val="700"/>
              </a:spcAft>
              <a:buChar char="•"/>
            </a:pPr>
            <a:r>
              <a:rPr sz="1350" b="0" i="0">
                <a:solidFill>
                  <a:srgbClr val="1B2634"/>
                </a:solidFill>
                <a:latin typeface="Calibri"/>
              </a:rPr>
              <a:t>Controls: uniform-neighbour deviation, untrained-GAT attention</a:t>
            </a:r>
          </a:p>
          <a:p>
            <a:pPr marL="201168" indent="-201168">
              <a:spcAft>
                <a:spcPts val="700"/>
              </a:spcAft>
              <a:buChar char="•"/>
            </a:pPr>
            <a:r>
              <a:rPr sz="1350" b="0" i="0">
                <a:solidFill>
                  <a:srgbClr val="1B2634"/>
                </a:solidFill>
                <a:latin typeface="Calibri"/>
              </a:rPr>
              <a:t>alpha and the F1 threshold are chosen on </a:t>
            </a:r>
            <a:r>
              <a:rPr sz="1350" b="1" i="0">
                <a:solidFill>
                  <a:srgbClr val="1B2634"/>
                </a:solidFill>
                <a:latin typeface="Calibri"/>
              </a:rPr>
              <a:t>validation</a:t>
            </a:r>
            <a:r>
              <a:rPr sz="1350" b="0" i="0">
                <a:solidFill>
                  <a:srgbClr val="1B2634"/>
                </a:solidFill>
                <a:latin typeface="Calibri"/>
              </a:rPr>
              <a:t> and frozen: model selection is label-informed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48640" y="6446520"/>
            <a:ext cx="8229600" cy="274320"/>
          </a:xfrm>
          <a:prstGeom prst="rect">
            <a:avLst/>
          </a:prstGeom>
          <a:noFill/>
        </p:spPr>
        <p:txBody>
          <a:bodyPr wrap="square" lIns="0" tIns="0" rIns="0" bIns="0" anchor="t">
            <a:spAutoFit/>
          </a:bodyPr>
          <a:lstStyle/>
          <a:p>
            <a:pPr algn="l"/>
            <a:r>
              <a:rPr sz="900" b="0" i="0">
                <a:solidFill>
                  <a:srgbClr val="5B6878"/>
                </a:solidFill>
                <a:latin typeface="Calibri"/>
              </a:rPr>
              <a:t>Attention-driven GNN for influence and anomaly detection  |  Krish Kapoor (23MIC0023), A.M. Karthikeshwaran (23MID0215)</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r>
              <a:rPr sz="900" b="0" i="0">
                <a:solidFill>
                  <a:srgbClr val="5B6878"/>
                </a:solidFill>
                <a:latin typeface="Calibri"/>
              </a:rPr>
              <a:t>8</a:t>
            </a:r>
          </a:p>
        </p:txBody>
      </p:sp>
      <p:sp>
        <p:nvSpPr>
          <p:cNvPr id="4"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0B2545"/>
                </a:solidFill>
                <a:latin typeface="Cambria"/>
              </a:rPr>
              <a:t>Datasets, label provenance and evaluation protocol</a:t>
            </a:r>
          </a:p>
        </p:txBody>
      </p:sp>
      <p:sp>
        <p:nvSpPr>
          <p:cNvPr id="5" name="TextBox 4"/>
          <p:cNvSpPr txBox="1"/>
          <p:nvPr/>
        </p:nvSpPr>
        <p:spPr>
          <a:xfrm>
            <a:off x="548640" y="1024128"/>
            <a:ext cx="11064240" cy="365760"/>
          </a:xfrm>
          <a:prstGeom prst="rect">
            <a:avLst/>
          </a:prstGeom>
          <a:noFill/>
        </p:spPr>
        <p:txBody>
          <a:bodyPr wrap="square" lIns="0" tIns="0" rIns="0" bIns="0" anchor="t">
            <a:spAutoFit/>
          </a:bodyPr>
          <a:lstStyle/>
          <a:p>
            <a:pPr algn="l"/>
            <a:r>
              <a:rPr sz="1500" b="0" i="0">
                <a:solidFill>
                  <a:srgbClr val="5B6878"/>
                </a:solidFill>
                <a:latin typeface="Calibri"/>
              </a:rPr>
              <a:t>Organic and injected anomalies are kept apart</a:t>
            </a:r>
          </a:p>
        </p:txBody>
      </p:sp>
      <p:graphicFrame>
        <p:nvGraphicFramePr>
          <p:cNvPr id="6" name="Table 5"/>
          <p:cNvGraphicFramePr>
            <a:graphicFrameLocks noGrp="1"/>
          </p:cNvGraphicFramePr>
          <p:nvPr/>
        </p:nvGraphicFramePr>
        <p:xfrm>
          <a:off x="548640" y="1600200"/>
          <a:ext cx="6766560" cy="3291840"/>
        </p:xfrm>
        <a:graphic>
          <a:graphicData uri="http://schemas.openxmlformats.org/drawingml/2006/table">
            <a:tbl>
              <a:tblPr>
                <a:tableStyleId>{5C22544A-7EE6-4342-B048-85BDC9FD1C3A}</a:tableStyleId>
              </a:tblPr>
              <a:tblGrid>
                <a:gridCol w="19202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548640">
                <a:tc>
                  <a:txBody>
                    <a:bodyPr/>
                    <a:lstStyle/>
                    <a:p>
                      <a:endParaRPr/>
                    </a:p>
                  </a:txBody>
                  <a:tcPr marL="64008" marR="64008" marT="27432" marB="27432" anchor="ctr">
                    <a:solidFill>
                      <a:srgbClr val="0B2545"/>
                    </a:solidFill>
                  </a:tcPr>
                </a:tc>
                <a:tc>
                  <a:txBody>
                    <a:bodyPr/>
                    <a:lstStyle/>
                    <a:p>
                      <a:r>
                        <a:rPr sz="1250" b="1" i="0">
                          <a:solidFill>
                            <a:srgbClr val="FFFFFF"/>
                          </a:solidFill>
                          <a:latin typeface="Calibri"/>
                        </a:rPr>
                        <a:t>Weibo (organic)</a:t>
                      </a:r>
                    </a:p>
                  </a:txBody>
                  <a:tcPr marL="64008" marR="64008" marT="27432" marB="27432" anchor="ctr">
                    <a:solidFill>
                      <a:srgbClr val="0B2545"/>
                    </a:solidFill>
                  </a:tcPr>
                </a:tc>
                <a:tc>
                  <a:txBody>
                    <a:bodyPr/>
                    <a:lstStyle/>
                    <a:p>
                      <a:r>
                        <a:rPr sz="1250" b="1" i="0">
                          <a:solidFill>
                            <a:srgbClr val="FFFFFF"/>
                          </a:solidFill>
                          <a:latin typeface="Calibri"/>
                        </a:rPr>
                        <a:t>Cora + injection (synthetic)</a:t>
                      </a:r>
                    </a:p>
                  </a:txBody>
                  <a:tcPr marL="64008" marR="64008" marT="27432" marB="27432" anchor="ctr">
                    <a:solidFill>
                      <a:srgbClr val="0B2545"/>
                    </a:solidFill>
                  </a:tcPr>
                </a:tc>
                <a:extLst>
                  <a:ext uri="{0D108BD9-81ED-4DB2-BD59-A6C34878D82A}">
                    <a16:rowId xmlns:a16="http://schemas.microsoft.com/office/drawing/2014/main" val="10000"/>
                  </a:ext>
                </a:extLst>
              </a:tr>
              <a:tr h="548640">
                <a:tc>
                  <a:txBody>
                    <a:bodyPr/>
                    <a:lstStyle/>
                    <a:p>
                      <a:r>
                        <a:rPr sz="1250" b="0" i="0">
                          <a:solidFill>
                            <a:srgbClr val="1B2634"/>
                          </a:solidFill>
                          <a:latin typeface="Calibri"/>
                        </a:rPr>
                        <a:t>Nodes / undirected edges</a:t>
                      </a:r>
                    </a:p>
                  </a:txBody>
                  <a:tcPr marL="64008" marR="64008" marT="27432" marB="27432" anchor="ctr">
                    <a:solidFill>
                      <a:srgbClr val="FFFFFF"/>
                    </a:solidFill>
                  </a:tcPr>
                </a:tc>
                <a:tc>
                  <a:txBody>
                    <a:bodyPr/>
                    <a:lstStyle/>
                    <a:p>
                      <a:r>
                        <a:rPr sz="1250" b="0" i="0">
                          <a:solidFill>
                            <a:srgbClr val="1B2634"/>
                          </a:solidFill>
                          <a:latin typeface="Calibri"/>
                        </a:rPr>
                        <a:t>8,405 / 377,271</a:t>
                      </a:r>
                    </a:p>
                  </a:txBody>
                  <a:tcPr marL="64008" marR="64008" marT="27432" marB="27432" anchor="ctr">
                    <a:solidFill>
                      <a:srgbClr val="FFFFFF"/>
                    </a:solidFill>
                  </a:tcPr>
                </a:tc>
                <a:tc>
                  <a:txBody>
                    <a:bodyPr/>
                    <a:lstStyle/>
                    <a:p>
                      <a:r>
                        <a:rPr sz="1250" b="0" i="0">
                          <a:solidFill>
                            <a:srgbClr val="1B2634"/>
                          </a:solidFill>
                          <a:latin typeface="Calibri"/>
                        </a:rPr>
                        <a:t>2,708 / 5,593</a:t>
                      </a:r>
                    </a:p>
                  </a:txBody>
                  <a:tcPr marL="64008" marR="64008" marT="27432" marB="27432" anchor="ctr">
                    <a:solidFill>
                      <a:srgbClr val="FFFFFF"/>
                    </a:solidFill>
                  </a:tcPr>
                </a:tc>
                <a:extLst>
                  <a:ext uri="{0D108BD9-81ED-4DB2-BD59-A6C34878D82A}">
                    <a16:rowId xmlns:a16="http://schemas.microsoft.com/office/drawing/2014/main" val="10001"/>
                  </a:ext>
                </a:extLst>
              </a:tr>
              <a:tr h="548640">
                <a:tc>
                  <a:txBody>
                    <a:bodyPr/>
                    <a:lstStyle/>
                    <a:p>
                      <a:r>
                        <a:rPr sz="1250" b="0" i="0">
                          <a:solidFill>
                            <a:srgbClr val="1B2634"/>
                          </a:solidFill>
                          <a:latin typeface="Calibri"/>
                        </a:rPr>
                        <a:t>Features</a:t>
                      </a:r>
                    </a:p>
                  </a:txBody>
                  <a:tcPr marL="64008" marR="64008" marT="27432" marB="27432" anchor="ctr">
                    <a:solidFill>
                      <a:srgbClr val="E6EEF3"/>
                    </a:solidFill>
                  </a:tcPr>
                </a:tc>
                <a:tc>
                  <a:txBody>
                    <a:bodyPr/>
                    <a:lstStyle/>
                    <a:p>
                      <a:r>
                        <a:rPr sz="1250" b="0" i="0">
                          <a:solidFill>
                            <a:srgbClr val="1B2634"/>
                          </a:solidFill>
                          <a:latin typeface="Calibri"/>
                        </a:rPr>
                        <a:t>400 (user attributes)</a:t>
                      </a:r>
                    </a:p>
                  </a:txBody>
                  <a:tcPr marL="64008" marR="64008" marT="27432" marB="27432" anchor="ctr">
                    <a:solidFill>
                      <a:srgbClr val="E6EEF3"/>
                    </a:solidFill>
                  </a:tcPr>
                </a:tc>
                <a:tc>
                  <a:txBody>
                    <a:bodyPr/>
                    <a:lstStyle/>
                    <a:p>
                      <a:r>
                        <a:rPr sz="1250" b="0" i="0">
                          <a:solidFill>
                            <a:srgbClr val="1B2634"/>
                          </a:solidFill>
                          <a:latin typeface="Calibri"/>
                        </a:rPr>
                        <a:t>1,433 (bag of words)</a:t>
                      </a:r>
                    </a:p>
                  </a:txBody>
                  <a:tcPr marL="64008" marR="64008" marT="27432" marB="27432" anchor="ctr">
                    <a:solidFill>
                      <a:srgbClr val="E6EEF3"/>
                    </a:solidFill>
                  </a:tcPr>
                </a:tc>
                <a:extLst>
                  <a:ext uri="{0D108BD9-81ED-4DB2-BD59-A6C34878D82A}">
                    <a16:rowId xmlns:a16="http://schemas.microsoft.com/office/drawing/2014/main" val="10002"/>
                  </a:ext>
                </a:extLst>
              </a:tr>
              <a:tr h="548640">
                <a:tc>
                  <a:txBody>
                    <a:bodyPr/>
                    <a:lstStyle/>
                    <a:p>
                      <a:r>
                        <a:rPr sz="1250" b="0" i="0">
                          <a:solidFill>
                            <a:srgbClr val="1B2634"/>
                          </a:solidFill>
                          <a:latin typeface="Calibri"/>
                        </a:rPr>
                        <a:t>Anomalies</a:t>
                      </a:r>
                    </a:p>
                  </a:txBody>
                  <a:tcPr marL="64008" marR="64008" marT="27432" marB="27432" anchor="ctr">
                    <a:solidFill>
                      <a:srgbClr val="FFFFFF"/>
                    </a:solidFill>
                  </a:tcPr>
                </a:tc>
                <a:tc>
                  <a:txBody>
                    <a:bodyPr/>
                    <a:lstStyle/>
                    <a:p>
                      <a:r>
                        <a:rPr sz="1250" b="0" i="0">
                          <a:solidFill>
                            <a:srgbClr val="1B2634"/>
                          </a:solidFill>
                          <a:latin typeface="Calibri"/>
                        </a:rPr>
                        <a:t>868 (10.3%), organic labels (original 2022 file)</a:t>
                      </a:r>
                    </a:p>
                  </a:txBody>
                  <a:tcPr marL="64008" marR="64008" marT="27432" marB="27432" anchor="ctr">
                    <a:solidFill>
                      <a:srgbClr val="FFFFFF"/>
                    </a:solidFill>
                  </a:tcPr>
                </a:tc>
                <a:tc>
                  <a:txBody>
                    <a:bodyPr/>
                    <a:lstStyle/>
                    <a:p>
                      <a:r>
                        <a:rPr sz="1250" b="0" i="0">
                          <a:solidFill>
                            <a:srgbClr val="1B2634"/>
                          </a:solidFill>
                          <a:latin typeface="Calibri"/>
                        </a:rPr>
                        <a:t>140 (5.2%): 70 structural + 70 contextual</a:t>
                      </a:r>
                    </a:p>
                  </a:txBody>
                  <a:tcPr marL="64008" marR="64008" marT="27432" marB="27432" anchor="ctr">
                    <a:solidFill>
                      <a:srgbClr val="FFFFFF"/>
                    </a:solidFill>
                  </a:tcPr>
                </a:tc>
                <a:extLst>
                  <a:ext uri="{0D108BD9-81ED-4DB2-BD59-A6C34878D82A}">
                    <a16:rowId xmlns:a16="http://schemas.microsoft.com/office/drawing/2014/main" val="10003"/>
                  </a:ext>
                </a:extLst>
              </a:tr>
              <a:tr h="548640">
                <a:tc>
                  <a:txBody>
                    <a:bodyPr/>
                    <a:lstStyle/>
                    <a:p>
                      <a:r>
                        <a:rPr sz="1250" b="0" i="0">
                          <a:solidFill>
                            <a:srgbClr val="1B2634"/>
                          </a:solidFill>
                          <a:latin typeface="Calibri"/>
                        </a:rPr>
                        <a:t>Source</a:t>
                      </a:r>
                    </a:p>
                  </a:txBody>
                  <a:tcPr marL="64008" marR="64008" marT="27432" marB="27432" anchor="ctr">
                    <a:solidFill>
                      <a:srgbClr val="E6EEF3"/>
                    </a:solidFill>
                  </a:tcPr>
                </a:tc>
                <a:tc>
                  <a:txBody>
                    <a:bodyPr/>
                    <a:lstStyle/>
                    <a:p>
                      <a:r>
                        <a:rPr sz="1250" b="0" i="0">
                          <a:solidFill>
                            <a:srgbClr val="1B2634"/>
                          </a:solidFill>
                          <a:latin typeface="Calibri"/>
                        </a:rPr>
                        <a:t>PyGOD / BOND file</a:t>
                      </a:r>
                    </a:p>
                  </a:txBody>
                  <a:tcPr marL="64008" marR="64008" marT="27432" marB="27432" anchor="ctr">
                    <a:solidFill>
                      <a:srgbClr val="E6EEF3"/>
                    </a:solidFill>
                  </a:tcPr>
                </a:tc>
                <a:tc>
                  <a:txBody>
                    <a:bodyPr/>
                    <a:lstStyle/>
                    <a:p>
                      <a:r>
                        <a:rPr sz="1250" b="0" i="0">
                          <a:solidFill>
                            <a:srgbClr val="1B2634"/>
                          </a:solidFill>
                          <a:latin typeface="Calibri"/>
                        </a:rPr>
                        <a:t>Planetoid Cora; seeded DOMINANT-style injection</a:t>
                      </a:r>
                    </a:p>
                  </a:txBody>
                  <a:tcPr marL="64008" marR="64008" marT="27432" marB="27432" anchor="ctr">
                    <a:solidFill>
                      <a:srgbClr val="E6EEF3"/>
                    </a:solidFill>
                  </a:tcPr>
                </a:tc>
                <a:extLst>
                  <a:ext uri="{0D108BD9-81ED-4DB2-BD59-A6C34878D82A}">
                    <a16:rowId xmlns:a16="http://schemas.microsoft.com/office/drawing/2014/main" val="10004"/>
                  </a:ext>
                </a:extLst>
              </a:tr>
              <a:tr h="548640">
                <a:tc>
                  <a:txBody>
                    <a:bodyPr/>
                    <a:lstStyle/>
                    <a:p>
                      <a:r>
                        <a:rPr sz="1250" b="0" i="0">
                          <a:solidFill>
                            <a:srgbClr val="1B2634"/>
                          </a:solidFill>
                          <a:latin typeface="Calibri"/>
                        </a:rPr>
                        <a:t>Caveat</a:t>
                      </a:r>
                    </a:p>
                  </a:txBody>
                  <a:tcPr marL="64008" marR="64008" marT="27432" marB="27432" anchor="ctr">
                    <a:solidFill>
                      <a:srgbClr val="FFFFFF"/>
                    </a:solidFill>
                  </a:tcPr>
                </a:tc>
                <a:tc>
                  <a:txBody>
                    <a:bodyPr/>
                    <a:lstStyle/>
                    <a:p>
                      <a:r>
                        <a:rPr sz="1250" b="0" i="0">
                          <a:solidFill>
                            <a:srgbClr val="1B2634"/>
                          </a:solidFill>
                          <a:latin typeface="Calibri"/>
                        </a:rPr>
                        <a:t>2024 upstream file blanks val/test labels: pinned + SHA-256 checked</a:t>
                      </a:r>
                    </a:p>
                  </a:txBody>
                  <a:tcPr marL="64008" marR="64008" marT="27432" marB="27432" anchor="ctr">
                    <a:solidFill>
                      <a:srgbClr val="FFFFFF"/>
                    </a:solidFill>
                  </a:tcPr>
                </a:tc>
                <a:tc>
                  <a:txBody>
                    <a:bodyPr/>
                    <a:lstStyle/>
                    <a:p>
                      <a:r>
                        <a:rPr sz="1250" b="0" i="0">
                          <a:solidFill>
                            <a:srgbClr val="1B2634"/>
                          </a:solidFill>
                          <a:latin typeface="Calibri"/>
                        </a:rPr>
                        <a:t>Never observed fraud</a:t>
                      </a:r>
                    </a:p>
                  </a:txBody>
                  <a:tcPr marL="64008"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7589520" y="1600200"/>
            <a:ext cx="4114800" cy="3474720"/>
          </a:xfrm>
          <a:prstGeom prst="rect">
            <a:avLst/>
          </a:prstGeom>
          <a:noFill/>
        </p:spPr>
        <p:txBody>
          <a:bodyPr wrap="square" lIns="0" tIns="0" rIns="0" bIns="0">
            <a:spAutoFit/>
          </a:bodyPr>
          <a:lstStyle/>
          <a:p>
            <a:pPr marL="201168" indent="-201168">
              <a:spcAft>
                <a:spcPts val="800"/>
              </a:spcAft>
              <a:buChar char="•"/>
            </a:pPr>
            <a:r>
              <a:rPr sz="1350" b="0" i="0">
                <a:solidFill>
                  <a:srgbClr val="1B2634"/>
                </a:solidFill>
                <a:latin typeface="Calibri"/>
              </a:rPr>
              <a:t>30/20/50 split, stratified, seeded; </a:t>
            </a:r>
            <a:r>
              <a:rPr sz="1350" b="1" i="0">
                <a:solidFill>
                  <a:srgbClr val="1B2634"/>
                </a:solidFill>
                <a:latin typeface="Calibri"/>
              </a:rPr>
              <a:t>transductive</a:t>
            </a:r>
          </a:p>
          <a:p>
            <a:pPr marL="201168" indent="-201168">
              <a:spcAft>
                <a:spcPts val="800"/>
              </a:spcAft>
              <a:buChar char="•"/>
            </a:pPr>
            <a:r>
              <a:rPr sz="1350" b="0" i="0">
                <a:solidFill>
                  <a:srgbClr val="1B2634"/>
                </a:solidFill>
                <a:latin typeface="Calibri"/>
              </a:rPr>
              <a:t>Normalise with </a:t>
            </a:r>
            <a:r>
              <a:rPr sz="1350" b="1" i="0">
                <a:solidFill>
                  <a:srgbClr val="1B2634"/>
                </a:solidFill>
                <a:latin typeface="Calibri"/>
              </a:rPr>
              <a:t>train</a:t>
            </a:r>
            <a:r>
              <a:rPr sz="1350" b="0" i="0">
                <a:solidFill>
                  <a:srgbClr val="1B2634"/>
                </a:solidFill>
                <a:latin typeface="Calibri"/>
              </a:rPr>
              <a:t> statistics; thresholds frozen on validation</a:t>
            </a:r>
          </a:p>
          <a:p>
            <a:pPr marL="201168" indent="-201168">
              <a:spcAft>
                <a:spcPts val="800"/>
              </a:spcAft>
              <a:buChar char="•"/>
            </a:pPr>
            <a:r>
              <a:rPr sz="1350" b="0" i="0">
                <a:solidFill>
                  <a:srgbClr val="1B2634"/>
                </a:solidFill>
                <a:latin typeface="Calibri"/>
              </a:rPr>
              <a:t>Influence: independent-cascade spread, </a:t>
            </a:r>
            <a:r>
              <a:rPr sz="1350" b="1" i="0">
                <a:solidFill>
                  <a:srgbClr val="1B2634"/>
                </a:solidFill>
                <a:latin typeface="Calibri"/>
              </a:rPr>
              <a:t>separate random streams</a:t>
            </a:r>
            <a:r>
              <a:rPr sz="1350" b="0" i="0">
                <a:solidFill>
                  <a:srgbClr val="1B2634"/>
                </a:solidFill>
                <a:latin typeface="Calibri"/>
              </a:rPr>
              <a:t> for train, validation and test nodes</a:t>
            </a:r>
          </a:p>
          <a:p>
            <a:pPr marL="201168" indent="-201168">
              <a:spcAft>
                <a:spcPts val="800"/>
              </a:spcAft>
              <a:buChar char="•"/>
            </a:pPr>
            <a:r>
              <a:rPr sz="1350" b="0" i="0">
                <a:solidFill>
                  <a:srgbClr val="1B2634"/>
                </a:solidFill>
                <a:latin typeface="Calibri"/>
              </a:rPr>
              <a:t>All rankings scored on the </a:t>
            </a:r>
            <a:r>
              <a:rPr sz="1350" b="1" i="0">
                <a:solidFill>
                  <a:srgbClr val="1B2634"/>
                </a:solidFill>
                <a:latin typeface="Calibri"/>
              </a:rPr>
              <a:t>same held-out test nodes</a:t>
            </a:r>
          </a:p>
          <a:p>
            <a:pPr marL="201168" indent="-201168">
              <a:spcAft>
                <a:spcPts val="800"/>
              </a:spcAft>
              <a:buChar char="•"/>
            </a:pPr>
            <a:r>
              <a:rPr sz="1350" b="0" i="0">
                <a:solidFill>
                  <a:srgbClr val="1B2634"/>
                </a:solidFill>
                <a:latin typeface="Calibri"/>
              </a:rPr>
              <a:t>≥3 seeds (Cora 5, Weibo 3)</a:t>
            </a:r>
          </a:p>
        </p:txBody>
      </p:sp>
      <p:sp>
        <p:nvSpPr>
          <p:cNvPr id="8" name="TextBox 7"/>
          <p:cNvSpPr txBox="1"/>
          <p:nvPr/>
        </p:nvSpPr>
        <p:spPr>
          <a:xfrm>
            <a:off x="548640" y="5120640"/>
            <a:ext cx="11064240" cy="274320"/>
          </a:xfrm>
          <a:prstGeom prst="rect">
            <a:avLst/>
          </a:prstGeom>
          <a:noFill/>
        </p:spPr>
        <p:txBody>
          <a:bodyPr wrap="square" lIns="0" tIns="0" rIns="0" bIns="0" anchor="t">
            <a:spAutoFit/>
          </a:bodyPr>
          <a:lstStyle/>
          <a:p>
            <a:pPr algn="l"/>
            <a:r>
              <a:rPr sz="1300" b="1" i="0">
                <a:solidFill>
                  <a:srgbClr val="13808B"/>
                </a:solidFill>
                <a:latin typeface="Calibri"/>
              </a:rPr>
              <a:t>Metrics</a:t>
            </a:r>
          </a:p>
        </p:txBody>
      </p:sp>
      <p:sp>
        <p:nvSpPr>
          <p:cNvPr id="9" name="TextBox 8"/>
          <p:cNvSpPr txBox="1"/>
          <p:nvPr/>
        </p:nvSpPr>
        <p:spPr>
          <a:xfrm>
            <a:off x="548640" y="5440680"/>
            <a:ext cx="11064240" cy="822960"/>
          </a:xfrm>
          <a:prstGeom prst="rect">
            <a:avLst/>
          </a:prstGeom>
          <a:noFill/>
        </p:spPr>
        <p:txBody>
          <a:bodyPr wrap="square" lIns="0" tIns="0" rIns="0" bIns="0" anchor="t">
            <a:spAutoFit/>
          </a:bodyPr>
          <a:lstStyle/>
          <a:p>
            <a:pPr algn="l"/>
            <a:r>
              <a:rPr sz="1350" b="0" i="0">
                <a:solidFill>
                  <a:srgbClr val="1B2634"/>
                </a:solidFill>
                <a:latin typeface="Calibri"/>
              </a:rPr>
              <a:t>Anomaly: precision, recall, F1 at the validation threshold, ROC-AUC, average precision, precision@k, confusion matrix.</a:t>
            </a:r>
          </a:p>
          <a:p>
            <a:pPr algn="l"/>
            <a:r>
              <a:rPr sz="1350" b="0" i="0">
                <a:solidFill>
                  <a:srgbClr val="1B2634"/>
                </a:solidFill>
                <a:latin typeface="Calibri"/>
              </a:rPr>
              <a:t>Influence: Spearman, Kendall τ, NDCG@k, top-k overlap, spread of the selected 10/20-node seed set (held-out cascades).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48640" y="6446520"/>
            <a:ext cx="8229600" cy="274320"/>
          </a:xfrm>
          <a:prstGeom prst="rect">
            <a:avLst/>
          </a:prstGeom>
          <a:noFill/>
        </p:spPr>
        <p:txBody>
          <a:bodyPr wrap="square" lIns="0" tIns="0" rIns="0" bIns="0" anchor="t">
            <a:spAutoFit/>
          </a:bodyPr>
          <a:lstStyle/>
          <a:p>
            <a:pPr algn="l"/>
            <a:r>
              <a:rPr sz="900" b="0" i="0">
                <a:solidFill>
                  <a:srgbClr val="5B6878"/>
                </a:solidFill>
                <a:latin typeface="Calibri"/>
              </a:rPr>
              <a:t>Attention-driven GNN for influence and anomaly detection  |  Krish Kapoor (23MIC0023), A.M. Karthikeshwaran (23MID0215)</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r>
              <a:rPr sz="900" b="0" i="0">
                <a:solidFill>
                  <a:srgbClr val="5B6878"/>
                </a:solidFill>
                <a:latin typeface="Calibri"/>
              </a:rPr>
              <a:t>9</a:t>
            </a:r>
          </a:p>
        </p:txBody>
      </p:sp>
      <p:sp>
        <p:nvSpPr>
          <p:cNvPr id="4"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0B2545"/>
                </a:solidFill>
                <a:latin typeface="Cambria"/>
              </a:rPr>
              <a:t>Implemented features and real dashboard screenshots</a:t>
            </a:r>
          </a:p>
        </p:txBody>
      </p:sp>
      <p:sp>
        <p:nvSpPr>
          <p:cNvPr id="5" name="TextBox 4"/>
          <p:cNvSpPr txBox="1"/>
          <p:nvPr/>
        </p:nvSpPr>
        <p:spPr>
          <a:xfrm>
            <a:off x="548640" y="1024128"/>
            <a:ext cx="11064240" cy="365760"/>
          </a:xfrm>
          <a:prstGeom prst="rect">
            <a:avLst/>
          </a:prstGeom>
          <a:noFill/>
        </p:spPr>
        <p:txBody>
          <a:bodyPr wrap="square" lIns="0" tIns="0" rIns="0" bIns="0" anchor="t">
            <a:spAutoFit/>
          </a:bodyPr>
          <a:lstStyle/>
          <a:p>
            <a:pPr algn="l"/>
            <a:r>
              <a:rPr sz="1500" b="0" i="0">
                <a:solidFill>
                  <a:srgbClr val="5B6878"/>
                </a:solidFill>
                <a:latin typeface="Calibri"/>
              </a:rPr>
              <a:t>Streamlit app running locally; every view reads saved runs</a:t>
            </a:r>
          </a:p>
        </p:txBody>
      </p:sp>
      <p:pic>
        <p:nvPicPr>
          <p:cNvPr id="6" name="Overview: animated hero and count-up tiles" descr="01_overview.png"/>
          <p:cNvPicPr>
            <a:picLocks noChangeAspect="1"/>
          </p:cNvPicPr>
          <p:nvPr/>
        </p:nvPicPr>
        <p:blipFill>
          <a:blip r:embed="rId3"/>
          <a:stretch>
            <a:fillRect/>
          </a:stretch>
        </p:blipFill>
        <p:spPr>
          <a:xfrm>
            <a:off x="548640" y="1417320"/>
            <a:ext cx="3749039" cy="2108834"/>
          </a:xfrm>
          <a:prstGeom prst="rect">
            <a:avLst/>
          </a:prstGeom>
        </p:spPr>
      </p:pic>
      <p:sp>
        <p:nvSpPr>
          <p:cNvPr id="7" name="TextBox 6"/>
          <p:cNvSpPr txBox="1"/>
          <p:nvPr/>
        </p:nvSpPr>
        <p:spPr>
          <a:xfrm>
            <a:off x="548640" y="3547872"/>
            <a:ext cx="3749039" cy="228600"/>
          </a:xfrm>
          <a:prstGeom prst="rect">
            <a:avLst/>
          </a:prstGeom>
          <a:noFill/>
        </p:spPr>
        <p:txBody>
          <a:bodyPr wrap="square" lIns="0" tIns="0" rIns="0" bIns="0" anchor="t">
            <a:spAutoFit/>
          </a:bodyPr>
          <a:lstStyle/>
          <a:p>
            <a:pPr algn="l"/>
            <a:r>
              <a:rPr sz="1100" b="0" i="0">
                <a:solidFill>
                  <a:srgbClr val="5B6878"/>
                </a:solidFill>
                <a:latin typeface="Calibri"/>
              </a:rPr>
              <a:t>Overview: animated hero and count-up tiles</a:t>
            </a:r>
          </a:p>
        </p:txBody>
      </p:sp>
      <p:pic>
        <p:nvPicPr>
          <p:cNvPr id="8" name="Dataset authenticity page" descr="03_dataset_authenticity.png"/>
          <p:cNvPicPr>
            <a:picLocks noChangeAspect="1"/>
          </p:cNvPicPr>
          <p:nvPr/>
        </p:nvPicPr>
        <p:blipFill>
          <a:blip r:embed="rId4"/>
          <a:stretch>
            <a:fillRect/>
          </a:stretch>
        </p:blipFill>
        <p:spPr>
          <a:xfrm>
            <a:off x="4709159" y="1417320"/>
            <a:ext cx="3749039" cy="2108834"/>
          </a:xfrm>
          <a:prstGeom prst="rect">
            <a:avLst/>
          </a:prstGeom>
        </p:spPr>
      </p:pic>
      <p:sp>
        <p:nvSpPr>
          <p:cNvPr id="9" name="TextBox 8"/>
          <p:cNvSpPr txBox="1"/>
          <p:nvPr/>
        </p:nvSpPr>
        <p:spPr>
          <a:xfrm>
            <a:off x="4709159" y="3547872"/>
            <a:ext cx="3749039" cy="228600"/>
          </a:xfrm>
          <a:prstGeom prst="rect">
            <a:avLst/>
          </a:prstGeom>
          <a:noFill/>
        </p:spPr>
        <p:txBody>
          <a:bodyPr wrap="square" lIns="0" tIns="0" rIns="0" bIns="0" anchor="t">
            <a:spAutoFit/>
          </a:bodyPr>
          <a:lstStyle/>
          <a:p>
            <a:pPr algn="l"/>
            <a:r>
              <a:rPr sz="1100" b="0" i="0">
                <a:solidFill>
                  <a:srgbClr val="5B6878"/>
                </a:solidFill>
                <a:latin typeface="Calibri"/>
              </a:rPr>
              <a:t>Dataset authenticity page</a:t>
            </a:r>
          </a:p>
        </p:txBody>
      </p:sp>
      <p:pic>
        <p:nvPicPr>
          <p:cNvPr id="10" name="Anomaly scores + live distribution" descr="06_anomaly_scores.png"/>
          <p:cNvPicPr>
            <a:picLocks noChangeAspect="1"/>
          </p:cNvPicPr>
          <p:nvPr/>
        </p:nvPicPr>
        <p:blipFill>
          <a:blip r:embed="rId5"/>
          <a:stretch>
            <a:fillRect/>
          </a:stretch>
        </p:blipFill>
        <p:spPr>
          <a:xfrm>
            <a:off x="548640" y="3813048"/>
            <a:ext cx="3749039" cy="2108834"/>
          </a:xfrm>
          <a:prstGeom prst="rect">
            <a:avLst/>
          </a:prstGeom>
        </p:spPr>
      </p:pic>
      <p:sp>
        <p:nvSpPr>
          <p:cNvPr id="11" name="TextBox 10"/>
          <p:cNvSpPr txBox="1"/>
          <p:nvPr/>
        </p:nvSpPr>
        <p:spPr>
          <a:xfrm>
            <a:off x="548640" y="5943600"/>
            <a:ext cx="3749039" cy="228600"/>
          </a:xfrm>
          <a:prstGeom prst="rect">
            <a:avLst/>
          </a:prstGeom>
          <a:noFill/>
        </p:spPr>
        <p:txBody>
          <a:bodyPr wrap="square" lIns="0" tIns="0" rIns="0" bIns="0" anchor="t">
            <a:spAutoFit/>
          </a:bodyPr>
          <a:lstStyle/>
          <a:p>
            <a:pPr algn="l"/>
            <a:r>
              <a:rPr sz="1100" b="0" i="0">
                <a:solidFill>
                  <a:srgbClr val="5B6878"/>
                </a:solidFill>
                <a:latin typeface="Calibri"/>
              </a:rPr>
              <a:t>Anomaly scores + live distribution</a:t>
            </a:r>
          </a:p>
        </p:txBody>
      </p:sp>
      <p:pic>
        <p:nvPicPr>
          <p:cNvPr id="12" name="Sampled graph + node inspector" descr="07_graph_explorer.png"/>
          <p:cNvPicPr>
            <a:picLocks noChangeAspect="1"/>
          </p:cNvPicPr>
          <p:nvPr/>
        </p:nvPicPr>
        <p:blipFill>
          <a:blip r:embed="rId6"/>
          <a:stretch>
            <a:fillRect/>
          </a:stretch>
        </p:blipFill>
        <p:spPr>
          <a:xfrm>
            <a:off x="4709159" y="3813048"/>
            <a:ext cx="3749039" cy="2108834"/>
          </a:xfrm>
          <a:prstGeom prst="rect">
            <a:avLst/>
          </a:prstGeom>
        </p:spPr>
      </p:pic>
      <p:sp>
        <p:nvSpPr>
          <p:cNvPr id="13" name="TextBox 12"/>
          <p:cNvSpPr txBox="1"/>
          <p:nvPr/>
        </p:nvSpPr>
        <p:spPr>
          <a:xfrm>
            <a:off x="4709159" y="5943600"/>
            <a:ext cx="3749039" cy="228600"/>
          </a:xfrm>
          <a:prstGeom prst="rect">
            <a:avLst/>
          </a:prstGeom>
          <a:noFill/>
        </p:spPr>
        <p:txBody>
          <a:bodyPr wrap="square" lIns="0" tIns="0" rIns="0" bIns="0" anchor="t">
            <a:spAutoFit/>
          </a:bodyPr>
          <a:lstStyle/>
          <a:p>
            <a:pPr algn="l"/>
            <a:r>
              <a:rPr sz="1100" b="0" i="0">
                <a:solidFill>
                  <a:srgbClr val="5B6878"/>
                </a:solidFill>
                <a:latin typeface="Calibri"/>
              </a:rPr>
              <a:t>Sampled graph + node inspector</a:t>
            </a:r>
          </a:p>
        </p:txBody>
      </p:sp>
      <p:sp>
        <p:nvSpPr>
          <p:cNvPr id="14" name="TextBox 13"/>
          <p:cNvSpPr txBox="1"/>
          <p:nvPr/>
        </p:nvSpPr>
        <p:spPr>
          <a:xfrm>
            <a:off x="9006840" y="1600200"/>
            <a:ext cx="2743200" cy="4572000"/>
          </a:xfrm>
          <a:prstGeom prst="rect">
            <a:avLst/>
          </a:prstGeom>
          <a:noFill/>
        </p:spPr>
        <p:txBody>
          <a:bodyPr wrap="square" lIns="0" tIns="0" rIns="0" bIns="0">
            <a:spAutoFit/>
          </a:bodyPr>
          <a:lstStyle/>
          <a:p>
            <a:pPr marL="201168" indent="-201168">
              <a:spcAft>
                <a:spcPts val="500"/>
              </a:spcAft>
              <a:buChar char="•"/>
            </a:pPr>
            <a:r>
              <a:rPr sz="1300" b="0" i="0">
                <a:solidFill>
                  <a:srgbClr val="1B2634"/>
                </a:solidFill>
                <a:latin typeface="Calibri"/>
              </a:rPr>
              <a:t>CSV graph import with validation</a:t>
            </a:r>
          </a:p>
          <a:p>
            <a:pPr marL="201168" indent="-201168">
              <a:spcAft>
                <a:spcPts val="500"/>
              </a:spcAft>
              <a:buChar char="•"/>
            </a:pPr>
            <a:r>
              <a:rPr sz="1300" b="0" i="0">
                <a:solidFill>
                  <a:srgbClr val="1B2634"/>
                </a:solidFill>
                <a:latin typeface="Calibri"/>
              </a:rPr>
              <a:t>Train / smoke jobs, status, checkpoint reload</a:t>
            </a:r>
          </a:p>
          <a:p>
            <a:pPr marL="201168" indent="-201168">
              <a:spcAft>
                <a:spcPts val="500"/>
              </a:spcAft>
              <a:buChar char="•"/>
            </a:pPr>
            <a:r>
              <a:rPr sz="1300" b="0" i="0">
                <a:solidFill>
                  <a:srgbClr val="1B2634"/>
                </a:solidFill>
                <a:latin typeface="Calibri"/>
              </a:rPr>
              <a:t>Influence table with degree, PageRank, simulated spread</a:t>
            </a:r>
          </a:p>
          <a:p>
            <a:pPr marL="201168" indent="-201168">
              <a:spcAft>
                <a:spcPts val="500"/>
              </a:spcAft>
              <a:buChar char="•"/>
            </a:pPr>
            <a:r>
              <a:rPr sz="1300" b="0" i="0">
                <a:solidFill>
                  <a:srgbClr val="1B2634"/>
                </a:solidFill>
                <a:latin typeface="Calibri"/>
              </a:rPr>
              <a:t>Adjustable anomaly threshold (tuned on validation)</a:t>
            </a:r>
          </a:p>
          <a:p>
            <a:pPr marL="201168" indent="-201168">
              <a:spcAft>
                <a:spcPts val="500"/>
              </a:spcAft>
              <a:buChar char="•"/>
            </a:pPr>
            <a:r>
              <a:rPr sz="1300" b="0" i="0">
                <a:solidFill>
                  <a:srgbClr val="1B2634"/>
                </a:solidFill>
                <a:latin typeface="Calibri"/>
              </a:rPr>
              <a:t>Layer / head attention view</a:t>
            </a:r>
          </a:p>
          <a:p>
            <a:pPr marL="201168" indent="-201168">
              <a:spcAft>
                <a:spcPts val="500"/>
              </a:spcAft>
              <a:buChar char="•"/>
            </a:pPr>
            <a:r>
              <a:rPr sz="1300" b="0" i="0">
                <a:solidFill>
                  <a:srgbClr val="1B2634"/>
                </a:solidFill>
                <a:latin typeface="Calibri"/>
              </a:rPr>
              <a:t>Saved-run comparisons, exports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48640" y="6446520"/>
            <a:ext cx="8229600" cy="274320"/>
          </a:xfrm>
          <a:prstGeom prst="rect">
            <a:avLst/>
          </a:prstGeom>
          <a:noFill/>
        </p:spPr>
        <p:txBody>
          <a:bodyPr wrap="square" lIns="0" tIns="0" rIns="0" bIns="0" anchor="t">
            <a:spAutoFit/>
          </a:bodyPr>
          <a:lstStyle/>
          <a:p>
            <a:pPr algn="l"/>
            <a:r>
              <a:rPr sz="900" b="0" i="0">
                <a:solidFill>
                  <a:srgbClr val="5B6878"/>
                </a:solidFill>
                <a:latin typeface="Calibri"/>
              </a:rPr>
              <a:t>Attention-driven GNN for influence and anomaly detection  |  Krish Kapoor (23MIC0023), A.M. Karthikeshwaran (23MID0215)</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r>
              <a:rPr sz="900" b="0" i="0">
                <a:solidFill>
                  <a:srgbClr val="5B6878"/>
                </a:solidFill>
                <a:latin typeface="Calibri"/>
              </a:rPr>
              <a:t>10</a:t>
            </a:r>
          </a:p>
        </p:txBody>
      </p:sp>
      <p:sp>
        <p:nvSpPr>
          <p:cNvPr id="4"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0B2545"/>
                </a:solidFill>
                <a:latin typeface="Cambria"/>
              </a:rPr>
              <a:t>Anomaly results and baseline comparison</a:t>
            </a:r>
          </a:p>
        </p:txBody>
      </p:sp>
      <p:sp>
        <p:nvSpPr>
          <p:cNvPr id="5" name="TextBox 4"/>
          <p:cNvSpPr txBox="1"/>
          <p:nvPr/>
        </p:nvSpPr>
        <p:spPr>
          <a:xfrm>
            <a:off x="548640" y="1024128"/>
            <a:ext cx="11064240" cy="365760"/>
          </a:xfrm>
          <a:prstGeom prst="rect">
            <a:avLst/>
          </a:prstGeom>
          <a:noFill/>
        </p:spPr>
        <p:txBody>
          <a:bodyPr wrap="square" lIns="0" tIns="0" rIns="0" bIns="0" anchor="t">
            <a:spAutoFit/>
          </a:bodyPr>
          <a:lstStyle/>
          <a:p>
            <a:pPr algn="l"/>
            <a:r>
              <a:rPr sz="1500" b="0" i="0">
                <a:solidFill>
                  <a:srgbClr val="5B6878"/>
                </a:solidFill>
                <a:latin typeface="Calibri"/>
              </a:rPr>
              <a:t>Test ROC-AUC, mean over seeds (axis starts at chance); controls included</a:t>
            </a:r>
          </a:p>
        </p:txBody>
      </p:sp>
      <p:graphicFrame>
        <p:nvGraphicFramePr>
          <p:cNvPr id="6" name="Chart 5"/>
          <p:cNvGraphicFramePr>
            <a:graphicFrameLocks noGrp="1"/>
          </p:cNvGraphicFramePr>
          <p:nvPr/>
        </p:nvGraphicFramePr>
        <p:xfrm>
          <a:off x="548640" y="1554480"/>
          <a:ext cx="5486400" cy="3566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p:cNvGraphicFramePr>
            <a:graphicFrameLocks noGrp="1"/>
          </p:cNvGraphicFramePr>
          <p:nvPr/>
        </p:nvGraphicFramePr>
        <p:xfrm>
          <a:off x="6172200" y="1554480"/>
          <a:ext cx="548640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p:cNvSpPr txBox="1"/>
          <p:nvPr/>
        </p:nvSpPr>
        <p:spPr>
          <a:xfrm>
            <a:off x="548640" y="5257800"/>
            <a:ext cx="11064240" cy="1188720"/>
          </a:xfrm>
          <a:prstGeom prst="rect">
            <a:avLst/>
          </a:prstGeom>
          <a:noFill/>
        </p:spPr>
        <p:txBody>
          <a:bodyPr wrap="square" lIns="0" tIns="0" rIns="0" bIns="0">
            <a:spAutoFit/>
          </a:bodyPr>
          <a:lstStyle/>
          <a:p>
            <a:pPr marL="201168" indent="-201168">
              <a:spcAft>
                <a:spcPts val="400"/>
              </a:spcAft>
              <a:buChar char="•"/>
            </a:pPr>
            <a:r>
              <a:rPr sz="1300" b="0" i="0">
                <a:solidFill>
                  <a:srgbClr val="1B2634"/>
                </a:solidFill>
                <a:latin typeface="Calibri"/>
              </a:rPr>
              <a:t>Cora: attention-only 0.796 vs uniform-neighbour control 0.790 vs untrained attention 0.791: </a:t>
            </a:r>
            <a:r>
              <a:rPr sz="1300" b="1" i="0">
                <a:solidFill>
                  <a:srgbClr val="1B2634"/>
                </a:solidFill>
                <a:latin typeface="Calibri"/>
              </a:rPr>
              <a:t>learned attention adds at most +0.006 AUC</a:t>
            </a:r>
            <a:r>
              <a:rPr sz="1300" b="0" i="0">
                <a:solidFill>
                  <a:srgbClr val="1B2634"/>
                </a:solidFill>
                <a:latin typeface="Calibri"/>
              </a:rPr>
              <a:t> (paired, 5 of 5 seeds)</a:t>
            </a:r>
          </a:p>
          <a:p>
            <a:pPr marL="201168" indent="-201168">
              <a:spcAft>
                <a:spcPts val="400"/>
              </a:spcAft>
              <a:buChar char="•"/>
            </a:pPr>
            <a:r>
              <a:rPr sz="1300" b="0" i="0">
                <a:solidFill>
                  <a:srgbClr val="1B2634"/>
                </a:solidFill>
                <a:latin typeface="Calibri"/>
              </a:rPr>
              <a:t>Weibo: GCN reconstruction 0.791, GATv2 0.773, GAT 0.771; attention-only 0.609 is </a:t>
            </a:r>
            <a:r>
              <a:rPr sz="1300" b="1" i="0">
                <a:solidFill>
                  <a:srgbClr val="1B2634"/>
                </a:solidFill>
                <a:latin typeface="Calibri"/>
              </a:rPr>
              <a:t>below</a:t>
            </a:r>
            <a:r>
              <a:rPr sz="1300" b="0" i="0">
                <a:solidFill>
                  <a:srgbClr val="1B2634"/>
                </a:solidFill>
                <a:latin typeface="Calibri"/>
              </a:rPr>
              <a:t> its control 0.630; Isolation Forest 0.458 (below chance)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48640" y="6446520"/>
            <a:ext cx="8229600" cy="274320"/>
          </a:xfrm>
          <a:prstGeom prst="rect">
            <a:avLst/>
          </a:prstGeom>
          <a:noFill/>
        </p:spPr>
        <p:txBody>
          <a:bodyPr wrap="square" lIns="0" tIns="0" rIns="0" bIns="0" anchor="t">
            <a:spAutoFit/>
          </a:bodyPr>
          <a:lstStyle/>
          <a:p>
            <a:pPr algn="l"/>
            <a:r>
              <a:rPr sz="900" b="0" i="0">
                <a:solidFill>
                  <a:srgbClr val="5B6878"/>
                </a:solidFill>
                <a:latin typeface="Calibri"/>
              </a:rPr>
              <a:t>Attention-driven GNN for influence and anomaly detection  |  Krish Kapoor (23MIC0023), A.M. Karthikeshwaran (23MID0215)</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r>
              <a:rPr sz="900" b="0" i="0">
                <a:solidFill>
                  <a:srgbClr val="5B6878"/>
                </a:solidFill>
                <a:latin typeface="Calibri"/>
              </a:rPr>
              <a:t>11</a:t>
            </a:r>
          </a:p>
        </p:txBody>
      </p:sp>
      <p:sp>
        <p:nvSpPr>
          <p:cNvPr id="4"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0B2545"/>
                </a:solidFill>
                <a:latin typeface="Cambria"/>
              </a:rPr>
              <a:t>Influence results and baseline comparison</a:t>
            </a:r>
          </a:p>
        </p:txBody>
      </p:sp>
      <p:sp>
        <p:nvSpPr>
          <p:cNvPr id="5" name="TextBox 4"/>
          <p:cNvSpPr txBox="1"/>
          <p:nvPr/>
        </p:nvSpPr>
        <p:spPr>
          <a:xfrm>
            <a:off x="548640" y="1024128"/>
            <a:ext cx="11064240" cy="365760"/>
          </a:xfrm>
          <a:prstGeom prst="rect">
            <a:avLst/>
          </a:prstGeom>
          <a:noFill/>
        </p:spPr>
        <p:txBody>
          <a:bodyPr wrap="square" lIns="0" tIns="0" rIns="0" bIns="0" anchor="t">
            <a:spAutoFit/>
          </a:bodyPr>
          <a:lstStyle/>
          <a:p>
            <a:pPr algn="l"/>
            <a:r>
              <a:rPr sz="1500" b="0" i="0">
                <a:solidFill>
                  <a:srgbClr val="5B6878"/>
                </a:solidFill>
                <a:latin typeface="Calibri"/>
              </a:rPr>
              <a:t>Spearman vs held-out simulated spread (middle cascade probability), mean over seeds</a:t>
            </a:r>
          </a:p>
        </p:txBody>
      </p:sp>
      <p:graphicFrame>
        <p:nvGraphicFramePr>
          <p:cNvPr id="6" name="Chart 5"/>
          <p:cNvGraphicFramePr>
            <a:graphicFrameLocks noGrp="1"/>
          </p:cNvGraphicFramePr>
          <p:nvPr/>
        </p:nvGraphicFramePr>
        <p:xfrm>
          <a:off x="548640" y="1554480"/>
          <a:ext cx="5486400" cy="3566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p:cNvGraphicFramePr>
            <a:graphicFrameLocks noGrp="1"/>
          </p:cNvGraphicFramePr>
          <p:nvPr/>
        </p:nvGraphicFramePr>
        <p:xfrm>
          <a:off x="6172200" y="1554480"/>
          <a:ext cx="548640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p:cNvSpPr txBox="1"/>
          <p:nvPr/>
        </p:nvSpPr>
        <p:spPr>
          <a:xfrm>
            <a:off x="548640" y="5257800"/>
            <a:ext cx="11064240" cy="1188720"/>
          </a:xfrm>
          <a:prstGeom prst="rect">
            <a:avLst/>
          </a:prstGeom>
          <a:noFill/>
        </p:spPr>
        <p:txBody>
          <a:bodyPr wrap="square" lIns="0" tIns="0" rIns="0" bIns="0">
            <a:spAutoFit/>
          </a:bodyPr>
          <a:lstStyle/>
          <a:p>
            <a:pPr marL="201168" indent="-201168">
              <a:spcAft>
                <a:spcPts val="400"/>
              </a:spcAft>
              <a:buChar char="•"/>
            </a:pPr>
            <a:r>
              <a:rPr sz="1300" b="0" i="0">
                <a:solidFill>
                  <a:srgbClr val="1B2634"/>
                </a:solidFill>
                <a:latin typeface="Calibri"/>
              </a:rPr>
              <a:t>Weibo: degree 0.629, </a:t>
            </a:r>
            <a:r>
              <a:rPr sz="1300" b="1" i="0">
                <a:solidFill>
                  <a:srgbClr val="1B2634"/>
                </a:solidFill>
                <a:latin typeface="Calibri"/>
              </a:rPr>
              <a:t>GCN head 0.889</a:t>
            </a:r>
            <a:r>
              <a:rPr sz="1300" b="0" i="0">
                <a:solidFill>
                  <a:srgbClr val="1B2634"/>
                </a:solidFill>
                <a:latin typeface="Calibri"/>
              </a:rPr>
              <a:t>, GAT received attention -0.198 (non-learned uniform control 0.109)</a:t>
            </a:r>
          </a:p>
          <a:p>
            <a:pPr marL="201168" indent="-201168">
              <a:spcAft>
                <a:spcPts val="400"/>
              </a:spcAft>
              <a:buChar char="•"/>
            </a:pPr>
            <a:r>
              <a:rPr sz="1300" b="0" i="0">
                <a:solidFill>
                  <a:srgbClr val="1B2634"/>
                </a:solidFill>
                <a:latin typeface="Calibri"/>
              </a:rPr>
              <a:t>Cora: received attention 0.335 = uniform control 0.335; degree adjustment turns it negative (-0.507)</a:t>
            </a:r>
          </a:p>
          <a:p>
            <a:pPr marL="201168" indent="-201168">
              <a:spcAft>
                <a:spcPts val="400"/>
              </a:spcAft>
              <a:buChar char="•"/>
            </a:pPr>
            <a:r>
              <a:rPr sz="1300" b="0" i="0">
                <a:solidFill>
                  <a:srgbClr val="1B2634"/>
                </a:solidFill>
                <a:latin typeface="Calibri"/>
              </a:rPr>
              <a:t>Top-10 seed set (Cora): degree 104 vs random 25 activated nodes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48640" y="6446520"/>
            <a:ext cx="8229600" cy="274320"/>
          </a:xfrm>
          <a:prstGeom prst="rect">
            <a:avLst/>
          </a:prstGeom>
          <a:noFill/>
        </p:spPr>
        <p:txBody>
          <a:bodyPr wrap="square" lIns="0" tIns="0" rIns="0" bIns="0" anchor="t">
            <a:spAutoFit/>
          </a:bodyPr>
          <a:lstStyle/>
          <a:p>
            <a:pPr algn="l"/>
            <a:r>
              <a:rPr sz="900" b="0" i="0">
                <a:solidFill>
                  <a:srgbClr val="5B6878"/>
                </a:solidFill>
                <a:latin typeface="Calibri"/>
              </a:rPr>
              <a:t>Attention-driven GNN for influence and anomaly detection  |  Krish Kapoor (23MIC0023), A.M. Karthikeshwaran (23MID0215)</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r>
              <a:rPr sz="900" b="0" i="0">
                <a:solidFill>
                  <a:srgbClr val="5B6878"/>
                </a:solidFill>
                <a:latin typeface="Calibri"/>
              </a:rPr>
              <a:t>12</a:t>
            </a:r>
          </a:p>
        </p:txBody>
      </p:sp>
      <p:sp>
        <p:nvSpPr>
          <p:cNvPr id="4"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0B2545"/>
                </a:solidFill>
                <a:latin typeface="Cambria"/>
              </a:rPr>
              <a:t>Ablation, explanation validation and measured compute</a:t>
            </a:r>
          </a:p>
        </p:txBody>
      </p:sp>
      <p:sp>
        <p:nvSpPr>
          <p:cNvPr id="5" name="TextBox 4"/>
          <p:cNvSpPr txBox="1"/>
          <p:nvPr/>
        </p:nvSpPr>
        <p:spPr>
          <a:xfrm>
            <a:off x="548640" y="1024128"/>
            <a:ext cx="11064240" cy="365760"/>
          </a:xfrm>
          <a:prstGeom prst="rect">
            <a:avLst/>
          </a:prstGeom>
          <a:noFill/>
        </p:spPr>
        <p:txBody>
          <a:bodyPr wrap="square" lIns="0" tIns="0" rIns="0" bIns="0" anchor="t">
            <a:spAutoFit/>
          </a:bodyPr>
          <a:lstStyle/>
          <a:p>
            <a:pPr algn="l"/>
            <a:r>
              <a:rPr sz="1500" b="0" i="0">
                <a:solidFill>
                  <a:srgbClr val="5B6878"/>
                </a:solidFill>
                <a:latin typeface="Calibri"/>
              </a:rPr>
              <a:t>RQ3 and RQ4, with measured cost</a:t>
            </a:r>
          </a:p>
        </p:txBody>
      </p:sp>
      <p:graphicFrame>
        <p:nvGraphicFramePr>
          <p:cNvPr id="6" name="Table 5"/>
          <p:cNvGraphicFramePr>
            <a:graphicFrameLocks noGrp="1"/>
          </p:cNvGraphicFramePr>
          <p:nvPr/>
        </p:nvGraphicFramePr>
        <p:xfrm>
          <a:off x="548640" y="1554480"/>
          <a:ext cx="4206240" cy="2926077"/>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418011">
                <a:tc>
                  <a:txBody>
                    <a:bodyPr/>
                    <a:lstStyle/>
                    <a:p>
                      <a:r>
                        <a:rPr sz="1200" b="1" i="0">
                          <a:solidFill>
                            <a:srgbClr val="FFFFFF"/>
                          </a:solidFill>
                          <a:latin typeface="Calibri"/>
                        </a:rPr>
                        <a:t>Cora, ROC-AUC / influence ρ</a:t>
                      </a:r>
                    </a:p>
                  </a:txBody>
                  <a:tcPr marL="64008" marR="64008" marT="27432" marB="27432" anchor="ctr">
                    <a:solidFill>
                      <a:srgbClr val="0B2545"/>
                    </a:solidFill>
                  </a:tcPr>
                </a:tc>
                <a:tc>
                  <a:txBody>
                    <a:bodyPr/>
                    <a:lstStyle/>
                    <a:p>
                      <a:r>
                        <a:rPr sz="1200" b="1" i="0">
                          <a:solidFill>
                            <a:srgbClr val="FFFFFF"/>
                          </a:solidFill>
                          <a:latin typeface="Calibri"/>
                        </a:rPr>
                        <a:t>Anomaly</a:t>
                      </a:r>
                    </a:p>
                  </a:txBody>
                  <a:tcPr marL="64008" marR="64008" marT="27432" marB="27432" anchor="ctr">
                    <a:solidFill>
                      <a:srgbClr val="0B2545"/>
                    </a:solidFill>
                  </a:tcPr>
                </a:tc>
                <a:tc>
                  <a:txBody>
                    <a:bodyPr/>
                    <a:lstStyle/>
                    <a:p>
                      <a:r>
                        <a:rPr sz="1200" b="1" i="0">
                          <a:solidFill>
                            <a:srgbClr val="FFFFFF"/>
                          </a:solidFill>
                          <a:latin typeface="Calibri"/>
                        </a:rPr>
                        <a:t>Influence head</a:t>
                      </a:r>
                    </a:p>
                  </a:txBody>
                  <a:tcPr marL="64008" marR="64008" marT="27432" marB="27432" anchor="ctr">
                    <a:solidFill>
                      <a:srgbClr val="0B2545"/>
                    </a:solidFill>
                  </a:tcPr>
                </a:tc>
                <a:extLst>
                  <a:ext uri="{0D108BD9-81ED-4DB2-BD59-A6C34878D82A}">
                    <a16:rowId xmlns:a16="http://schemas.microsoft.com/office/drawing/2014/main" val="10000"/>
                  </a:ext>
                </a:extLst>
              </a:tr>
              <a:tr h="418011">
                <a:tc>
                  <a:txBody>
                    <a:bodyPr/>
                    <a:lstStyle/>
                    <a:p>
                      <a:r>
                        <a:rPr sz="1200" b="0" i="0">
                          <a:solidFill>
                            <a:srgbClr val="1B2634"/>
                          </a:solidFill>
                          <a:latin typeface="Calibri"/>
                        </a:rPr>
                        <a:t>GCN joint</a:t>
                      </a:r>
                    </a:p>
                  </a:txBody>
                  <a:tcPr marL="64008" marR="64008" marT="27432" marB="27432" anchor="ctr">
                    <a:solidFill>
                      <a:srgbClr val="FFFFFF"/>
                    </a:solidFill>
                  </a:tcPr>
                </a:tc>
                <a:tc>
                  <a:txBody>
                    <a:bodyPr/>
                    <a:lstStyle/>
                    <a:p>
                      <a:r>
                        <a:rPr sz="1200" b="0" i="0">
                          <a:solidFill>
                            <a:srgbClr val="1B2634"/>
                          </a:solidFill>
                          <a:latin typeface="Calibri"/>
                        </a:rPr>
                        <a:t>0.776</a:t>
                      </a:r>
                    </a:p>
                  </a:txBody>
                  <a:tcPr marL="64008" marR="64008" marT="27432" marB="27432" anchor="ctr">
                    <a:solidFill>
                      <a:srgbClr val="FFFFFF"/>
                    </a:solidFill>
                  </a:tcPr>
                </a:tc>
                <a:tc>
                  <a:txBody>
                    <a:bodyPr/>
                    <a:lstStyle/>
                    <a:p>
                      <a:r>
                        <a:rPr sz="1200" b="0" i="0">
                          <a:solidFill>
                            <a:srgbClr val="1B2634"/>
                          </a:solidFill>
                          <a:latin typeface="Calibri"/>
                        </a:rPr>
                        <a:t>0.732</a:t>
                      </a:r>
                    </a:p>
                  </a:txBody>
                  <a:tcPr marL="64008" marR="64008" marT="27432" marB="27432" anchor="ctr">
                    <a:solidFill>
                      <a:srgbClr val="FFFFFF"/>
                    </a:solidFill>
                  </a:tcPr>
                </a:tc>
                <a:extLst>
                  <a:ext uri="{0D108BD9-81ED-4DB2-BD59-A6C34878D82A}">
                    <a16:rowId xmlns:a16="http://schemas.microsoft.com/office/drawing/2014/main" val="10001"/>
                  </a:ext>
                </a:extLst>
              </a:tr>
              <a:tr h="418011">
                <a:tc>
                  <a:txBody>
                    <a:bodyPr/>
                    <a:lstStyle/>
                    <a:p>
                      <a:r>
                        <a:rPr sz="1200" b="0" i="0">
                          <a:solidFill>
                            <a:srgbClr val="1B2634"/>
                          </a:solidFill>
                          <a:latin typeface="Calibri"/>
                        </a:rPr>
                        <a:t>GAT joint</a:t>
                      </a:r>
                    </a:p>
                  </a:txBody>
                  <a:tcPr marL="64008" marR="64008" marT="27432" marB="27432" anchor="ctr">
                    <a:solidFill>
                      <a:srgbClr val="E6EEF3"/>
                    </a:solidFill>
                  </a:tcPr>
                </a:tc>
                <a:tc>
                  <a:txBody>
                    <a:bodyPr/>
                    <a:lstStyle/>
                    <a:p>
                      <a:r>
                        <a:rPr sz="1200" b="0" i="0">
                          <a:solidFill>
                            <a:srgbClr val="1B2634"/>
                          </a:solidFill>
                          <a:latin typeface="Calibri"/>
                        </a:rPr>
                        <a:t>0.776</a:t>
                      </a:r>
                    </a:p>
                  </a:txBody>
                  <a:tcPr marL="64008" marR="64008" marT="27432" marB="27432" anchor="ctr">
                    <a:solidFill>
                      <a:srgbClr val="E6EEF3"/>
                    </a:solidFill>
                  </a:tcPr>
                </a:tc>
                <a:tc>
                  <a:txBody>
                    <a:bodyPr/>
                    <a:lstStyle/>
                    <a:p>
                      <a:r>
                        <a:rPr sz="1200" b="0" i="0">
                          <a:solidFill>
                            <a:srgbClr val="1B2634"/>
                          </a:solidFill>
                          <a:latin typeface="Calibri"/>
                        </a:rPr>
                        <a:t>0.648</a:t>
                      </a:r>
                    </a:p>
                  </a:txBody>
                  <a:tcPr marL="64008" marR="64008" marT="27432" marB="27432" anchor="ctr">
                    <a:solidFill>
                      <a:srgbClr val="E6EEF3"/>
                    </a:solidFill>
                  </a:tcPr>
                </a:tc>
                <a:extLst>
                  <a:ext uri="{0D108BD9-81ED-4DB2-BD59-A6C34878D82A}">
                    <a16:rowId xmlns:a16="http://schemas.microsoft.com/office/drawing/2014/main" val="10002"/>
                  </a:ext>
                </a:extLst>
              </a:tr>
              <a:tr h="418011">
                <a:tc>
                  <a:txBody>
                    <a:bodyPr/>
                    <a:lstStyle/>
                    <a:p>
                      <a:r>
                        <a:rPr sz="1200" b="0" i="0">
                          <a:solidFill>
                            <a:srgbClr val="1B2634"/>
                          </a:solidFill>
                          <a:latin typeface="Calibri"/>
                        </a:rPr>
                        <a:t>GATv2 joint</a:t>
                      </a:r>
                    </a:p>
                  </a:txBody>
                  <a:tcPr marL="64008" marR="64008" marT="27432" marB="27432" anchor="ctr">
                    <a:solidFill>
                      <a:srgbClr val="FFFFFF"/>
                    </a:solidFill>
                  </a:tcPr>
                </a:tc>
                <a:tc>
                  <a:txBody>
                    <a:bodyPr/>
                    <a:lstStyle/>
                    <a:p>
                      <a:r>
                        <a:rPr sz="1200" b="0" i="0">
                          <a:solidFill>
                            <a:srgbClr val="1B2634"/>
                          </a:solidFill>
                          <a:latin typeface="Calibri"/>
                        </a:rPr>
                        <a:t>0.769</a:t>
                      </a:r>
                    </a:p>
                  </a:txBody>
                  <a:tcPr marL="64008" marR="64008" marT="27432" marB="27432" anchor="ctr">
                    <a:solidFill>
                      <a:srgbClr val="FFFFFF"/>
                    </a:solidFill>
                  </a:tcPr>
                </a:tc>
                <a:tc>
                  <a:txBody>
                    <a:bodyPr/>
                    <a:lstStyle/>
                    <a:p>
                      <a:r>
                        <a:rPr sz="1200" b="0" i="0">
                          <a:solidFill>
                            <a:srgbClr val="1B2634"/>
                          </a:solidFill>
                          <a:latin typeface="Calibri"/>
                        </a:rPr>
                        <a:t>0.667</a:t>
                      </a:r>
                    </a:p>
                  </a:txBody>
                  <a:tcPr marL="64008" marR="64008" marT="27432" marB="27432" anchor="ctr">
                    <a:solidFill>
                      <a:srgbClr val="FFFFFF"/>
                    </a:solidFill>
                  </a:tcPr>
                </a:tc>
                <a:extLst>
                  <a:ext uri="{0D108BD9-81ED-4DB2-BD59-A6C34878D82A}">
                    <a16:rowId xmlns:a16="http://schemas.microsoft.com/office/drawing/2014/main" val="10003"/>
                  </a:ext>
                </a:extLst>
              </a:tr>
              <a:tr h="418011">
                <a:tc>
                  <a:txBody>
                    <a:bodyPr/>
                    <a:lstStyle/>
                    <a:p>
                      <a:r>
                        <a:rPr sz="1200" b="0" i="0">
                          <a:solidFill>
                            <a:srgbClr val="1B2634"/>
                          </a:solidFill>
                          <a:latin typeface="Calibri"/>
                        </a:rPr>
                        <a:t>GAT 1-head joint</a:t>
                      </a:r>
                    </a:p>
                  </a:txBody>
                  <a:tcPr marL="64008" marR="64008" marT="27432" marB="27432" anchor="ctr">
                    <a:solidFill>
                      <a:srgbClr val="E6EEF3"/>
                    </a:solidFill>
                  </a:tcPr>
                </a:tc>
                <a:tc>
                  <a:txBody>
                    <a:bodyPr/>
                    <a:lstStyle/>
                    <a:p>
                      <a:r>
                        <a:rPr sz="1200" b="0" i="0">
                          <a:solidFill>
                            <a:srgbClr val="1B2634"/>
                          </a:solidFill>
                          <a:latin typeface="Calibri"/>
                        </a:rPr>
                        <a:t>0.770</a:t>
                      </a:r>
                    </a:p>
                  </a:txBody>
                  <a:tcPr marL="64008" marR="64008" marT="27432" marB="27432" anchor="ctr">
                    <a:solidFill>
                      <a:srgbClr val="E6EEF3"/>
                    </a:solidFill>
                  </a:tcPr>
                </a:tc>
                <a:tc>
                  <a:txBody>
                    <a:bodyPr/>
                    <a:lstStyle/>
                    <a:p>
                      <a:r>
                        <a:rPr sz="1200" b="0" i="0">
                          <a:solidFill>
                            <a:srgbClr val="1B2634"/>
                          </a:solidFill>
                          <a:latin typeface="Calibri"/>
                        </a:rPr>
                        <a:t>0.637</a:t>
                      </a:r>
                    </a:p>
                  </a:txBody>
                  <a:tcPr marL="64008" marR="64008" marT="27432" marB="27432" anchor="ctr">
                    <a:solidFill>
                      <a:srgbClr val="E6EEF3"/>
                    </a:solidFill>
                  </a:tcPr>
                </a:tc>
                <a:extLst>
                  <a:ext uri="{0D108BD9-81ED-4DB2-BD59-A6C34878D82A}">
                    <a16:rowId xmlns:a16="http://schemas.microsoft.com/office/drawing/2014/main" val="10004"/>
                  </a:ext>
                </a:extLst>
              </a:tr>
              <a:tr h="418011">
                <a:tc>
                  <a:txBody>
                    <a:bodyPr/>
                    <a:lstStyle/>
                    <a:p>
                      <a:r>
                        <a:rPr sz="1200" b="0" i="0">
                          <a:solidFill>
                            <a:srgbClr val="1B2634"/>
                          </a:solidFill>
                          <a:latin typeface="Calibri"/>
                        </a:rPr>
                        <a:t>GAT anomaly-only</a:t>
                      </a:r>
                    </a:p>
                  </a:txBody>
                  <a:tcPr marL="64008" marR="64008" marT="27432" marB="27432" anchor="ctr">
                    <a:solidFill>
                      <a:srgbClr val="FFFFFF"/>
                    </a:solidFill>
                  </a:tcPr>
                </a:tc>
                <a:tc>
                  <a:txBody>
                    <a:bodyPr/>
                    <a:lstStyle/>
                    <a:p>
                      <a:r>
                        <a:rPr sz="1200" b="0" i="0">
                          <a:solidFill>
                            <a:srgbClr val="1B2634"/>
                          </a:solidFill>
                          <a:latin typeface="Calibri"/>
                        </a:rPr>
                        <a:t>0.771</a:t>
                      </a:r>
                    </a:p>
                  </a:txBody>
                  <a:tcPr marL="64008" marR="64008" marT="27432" marB="27432" anchor="ctr">
                    <a:solidFill>
                      <a:srgbClr val="FFFFFF"/>
                    </a:solidFill>
                  </a:tcPr>
                </a:tc>
                <a:tc>
                  <a:txBody>
                    <a:bodyPr/>
                    <a:lstStyle/>
                    <a:p>
                      <a:r>
                        <a:rPr sz="1200" b="0" i="0">
                          <a:solidFill>
                            <a:srgbClr val="1B2634"/>
                          </a:solidFill>
                          <a:latin typeface="Calibri"/>
                        </a:rPr>
                        <a:t>n/a</a:t>
                      </a:r>
                    </a:p>
                  </a:txBody>
                  <a:tcPr marL="64008" marR="64008" marT="27432" marB="27432" anchor="ctr">
                    <a:solidFill>
                      <a:srgbClr val="FFFFFF"/>
                    </a:solidFill>
                  </a:tcPr>
                </a:tc>
                <a:extLst>
                  <a:ext uri="{0D108BD9-81ED-4DB2-BD59-A6C34878D82A}">
                    <a16:rowId xmlns:a16="http://schemas.microsoft.com/office/drawing/2014/main" val="10005"/>
                  </a:ext>
                </a:extLst>
              </a:tr>
              <a:tr h="418011">
                <a:tc>
                  <a:txBody>
                    <a:bodyPr/>
                    <a:lstStyle/>
                    <a:p>
                      <a:r>
                        <a:rPr sz="1200" b="0" i="0">
                          <a:solidFill>
                            <a:srgbClr val="1B2634"/>
                          </a:solidFill>
                          <a:latin typeface="Calibri"/>
                        </a:rPr>
                        <a:t>GAT influence-only</a:t>
                      </a:r>
                    </a:p>
                  </a:txBody>
                  <a:tcPr marL="64008" marR="64008" marT="27432" marB="27432" anchor="ctr">
                    <a:solidFill>
                      <a:srgbClr val="E6EEF3"/>
                    </a:solidFill>
                  </a:tcPr>
                </a:tc>
                <a:tc>
                  <a:txBody>
                    <a:bodyPr/>
                    <a:lstStyle/>
                    <a:p>
                      <a:r>
                        <a:rPr sz="1200" b="0" i="0">
                          <a:solidFill>
                            <a:srgbClr val="1B2634"/>
                          </a:solidFill>
                          <a:latin typeface="Calibri"/>
                        </a:rPr>
                        <a:t>n/a (head untrained)</a:t>
                      </a:r>
                    </a:p>
                  </a:txBody>
                  <a:tcPr marL="64008" marR="64008" marT="27432" marB="27432" anchor="ctr">
                    <a:solidFill>
                      <a:srgbClr val="E6EEF3"/>
                    </a:solidFill>
                  </a:tcPr>
                </a:tc>
                <a:tc>
                  <a:txBody>
                    <a:bodyPr/>
                    <a:lstStyle/>
                    <a:p>
                      <a:r>
                        <a:rPr sz="1200" b="0" i="0">
                          <a:solidFill>
                            <a:srgbClr val="1B2634"/>
                          </a:solidFill>
                          <a:latin typeface="Calibri"/>
                        </a:rPr>
                        <a:t>0.680</a:t>
                      </a:r>
                    </a:p>
                  </a:txBody>
                  <a:tcPr marL="64008" marR="64008" marT="27432" marB="27432" anchor="ctr">
                    <a:solidFill>
                      <a:srgbClr val="E6EEF3"/>
                    </a:solidFill>
                  </a:tcPr>
                </a:tc>
                <a:extLst>
                  <a:ext uri="{0D108BD9-81ED-4DB2-BD59-A6C34878D82A}">
                    <a16:rowId xmlns:a16="http://schemas.microsoft.com/office/drawing/2014/main" val="10006"/>
                  </a:ext>
                </a:extLst>
              </a:tr>
            </a:tbl>
          </a:graphicData>
        </a:graphic>
      </p:graphicFrame>
      <p:graphicFrame>
        <p:nvGraphicFramePr>
          <p:cNvPr id="7" name="Chart 6"/>
          <p:cNvGraphicFramePr>
            <a:graphicFrameLocks noGrp="1"/>
          </p:cNvGraphicFramePr>
          <p:nvPr/>
        </p:nvGraphicFramePr>
        <p:xfrm>
          <a:off x="4937760" y="1508760"/>
          <a:ext cx="33832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4937760" y="4526280"/>
            <a:ext cx="3383280" cy="365760"/>
          </a:xfrm>
          <a:prstGeom prst="rect">
            <a:avLst/>
          </a:prstGeom>
          <a:noFill/>
        </p:spPr>
        <p:txBody>
          <a:bodyPr wrap="square" lIns="0" tIns="0" rIns="0" bIns="0" anchor="t">
            <a:spAutoFit/>
          </a:bodyPr>
          <a:lstStyle/>
          <a:p>
            <a:pPr algn="l"/>
            <a:r>
              <a:rPr sz="1000" b="0" i="0">
                <a:solidFill>
                  <a:srgbClr val="5B6878"/>
                </a:solidFill>
                <a:latin typeface="Calibri"/>
              </a:rPr>
              <a:t>Weibo high vs random: anomaly p = 0.003, influence p = 0.0001; Cora anomaly p = 0.0095</a:t>
            </a:r>
          </a:p>
        </p:txBody>
      </p:sp>
      <p:graphicFrame>
        <p:nvGraphicFramePr>
          <p:cNvPr id="9" name="Table 8"/>
          <p:cNvGraphicFramePr>
            <a:graphicFrameLocks noGrp="1"/>
          </p:cNvGraphicFramePr>
          <p:nvPr/>
        </p:nvGraphicFramePr>
        <p:xfrm>
          <a:off x="8503920" y="1554480"/>
          <a:ext cx="3200400" cy="1737360"/>
        </p:xfrm>
        <a:graphic>
          <a:graphicData uri="http://schemas.openxmlformats.org/drawingml/2006/table">
            <a:tbl>
              <a:tblPr>
                <a:tableStyleId>{5C22544A-7EE6-4342-B048-85BDC9FD1C3A}</a:tableStyleId>
              </a:tblPr>
              <a:tblGrid>
                <a:gridCol w="11887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34340">
                <a:tc>
                  <a:txBody>
                    <a:bodyPr/>
                    <a:lstStyle/>
                    <a:p>
                      <a:r>
                        <a:rPr sz="1200" b="1" i="0">
                          <a:solidFill>
                            <a:srgbClr val="FFFFFF"/>
                          </a:solidFill>
                          <a:latin typeface="Calibri"/>
                        </a:rPr>
                        <a:t>Isolated run</a:t>
                      </a:r>
                    </a:p>
                  </a:txBody>
                  <a:tcPr marL="64008" marR="64008" marT="27432" marB="27432" anchor="ctr">
                    <a:solidFill>
                      <a:srgbClr val="0B2545"/>
                    </a:solidFill>
                  </a:tcPr>
                </a:tc>
                <a:tc>
                  <a:txBody>
                    <a:bodyPr/>
                    <a:lstStyle/>
                    <a:p>
                      <a:r>
                        <a:rPr sz="1200" b="1" i="0">
                          <a:solidFill>
                            <a:srgbClr val="FFFFFF"/>
                          </a:solidFill>
                          <a:latin typeface="Calibri"/>
                        </a:rPr>
                        <a:t>Cora s</a:t>
                      </a:r>
                    </a:p>
                  </a:txBody>
                  <a:tcPr marL="64008" marR="64008" marT="27432" marB="27432" anchor="ctr">
                    <a:solidFill>
                      <a:srgbClr val="0B2545"/>
                    </a:solidFill>
                  </a:tcPr>
                </a:tc>
                <a:tc>
                  <a:txBody>
                    <a:bodyPr/>
                    <a:lstStyle/>
                    <a:p>
                      <a:r>
                        <a:rPr sz="1200" b="1" i="0">
                          <a:solidFill>
                            <a:srgbClr val="FFFFFF"/>
                          </a:solidFill>
                          <a:latin typeface="Calibri"/>
                        </a:rPr>
                        <a:t>Weibo s</a:t>
                      </a:r>
                    </a:p>
                  </a:txBody>
                  <a:tcPr marL="64008" marR="64008" marT="27432" marB="27432" anchor="ctr">
                    <a:solidFill>
                      <a:srgbClr val="0B2545"/>
                    </a:solidFill>
                  </a:tcPr>
                </a:tc>
                <a:tc>
                  <a:txBody>
                    <a:bodyPr/>
                    <a:lstStyle/>
                    <a:p>
                      <a:r>
                        <a:rPr sz="1200" b="1" i="0">
                          <a:solidFill>
                            <a:srgbClr val="FFFFFF"/>
                          </a:solidFill>
                          <a:latin typeface="Calibri"/>
                        </a:rPr>
                        <a:t>Weibo MB</a:t>
                      </a:r>
                    </a:p>
                  </a:txBody>
                  <a:tcPr marL="64008" marR="64008" marT="27432" marB="27432" anchor="ctr">
                    <a:solidFill>
                      <a:srgbClr val="0B2545"/>
                    </a:solidFill>
                  </a:tcPr>
                </a:tc>
                <a:extLst>
                  <a:ext uri="{0D108BD9-81ED-4DB2-BD59-A6C34878D82A}">
                    <a16:rowId xmlns:a16="http://schemas.microsoft.com/office/drawing/2014/main" val="10000"/>
                  </a:ext>
                </a:extLst>
              </a:tr>
              <a:tr h="434340">
                <a:tc>
                  <a:txBody>
                    <a:bodyPr/>
                    <a:lstStyle/>
                    <a:p>
                      <a:r>
                        <a:rPr sz="1200" b="0" i="0">
                          <a:solidFill>
                            <a:srgbClr val="1B2634"/>
                          </a:solidFill>
                          <a:latin typeface="Calibri"/>
                        </a:rPr>
                        <a:t>GCN joint</a:t>
                      </a:r>
                    </a:p>
                  </a:txBody>
                  <a:tcPr marL="64008" marR="64008" marT="27432" marB="27432" anchor="ctr">
                    <a:solidFill>
                      <a:srgbClr val="FFFFFF"/>
                    </a:solidFill>
                  </a:tcPr>
                </a:tc>
                <a:tc>
                  <a:txBody>
                    <a:bodyPr/>
                    <a:lstStyle/>
                    <a:p>
                      <a:r>
                        <a:rPr sz="1200" b="0" i="0">
                          <a:solidFill>
                            <a:srgbClr val="1B2634"/>
                          </a:solidFill>
                          <a:latin typeface="Calibri"/>
                        </a:rPr>
                        <a:t>10</a:t>
                      </a:r>
                    </a:p>
                  </a:txBody>
                  <a:tcPr marL="64008" marR="64008" marT="27432" marB="27432" anchor="ctr">
                    <a:solidFill>
                      <a:srgbClr val="FFFFFF"/>
                    </a:solidFill>
                  </a:tcPr>
                </a:tc>
                <a:tc>
                  <a:txBody>
                    <a:bodyPr/>
                    <a:lstStyle/>
                    <a:p>
                      <a:r>
                        <a:rPr sz="1200" b="0" i="0">
                          <a:solidFill>
                            <a:srgbClr val="1B2634"/>
                          </a:solidFill>
                          <a:latin typeface="Calibri"/>
                        </a:rPr>
                        <a:t>36</a:t>
                      </a:r>
                    </a:p>
                  </a:txBody>
                  <a:tcPr marL="64008" marR="64008" marT="27432" marB="27432" anchor="ctr">
                    <a:solidFill>
                      <a:srgbClr val="FFFFFF"/>
                    </a:solidFill>
                  </a:tcPr>
                </a:tc>
                <a:tc>
                  <a:txBody>
                    <a:bodyPr/>
                    <a:lstStyle/>
                    <a:p>
                      <a:r>
                        <a:rPr sz="1200" b="0" i="0">
                          <a:solidFill>
                            <a:srgbClr val="1B2634"/>
                          </a:solidFill>
                          <a:latin typeface="Calibri"/>
                        </a:rPr>
                        <a:t>1063</a:t>
                      </a:r>
                    </a:p>
                  </a:txBody>
                  <a:tcPr marL="64008" marR="64008" marT="27432" marB="27432" anchor="ctr">
                    <a:solidFill>
                      <a:srgbClr val="FFFFFF"/>
                    </a:solidFill>
                  </a:tcPr>
                </a:tc>
                <a:extLst>
                  <a:ext uri="{0D108BD9-81ED-4DB2-BD59-A6C34878D82A}">
                    <a16:rowId xmlns:a16="http://schemas.microsoft.com/office/drawing/2014/main" val="10001"/>
                  </a:ext>
                </a:extLst>
              </a:tr>
              <a:tr h="434340">
                <a:tc>
                  <a:txBody>
                    <a:bodyPr/>
                    <a:lstStyle/>
                    <a:p>
                      <a:r>
                        <a:rPr sz="1200" b="0" i="0">
                          <a:solidFill>
                            <a:srgbClr val="1B2634"/>
                          </a:solidFill>
                          <a:latin typeface="Calibri"/>
                        </a:rPr>
                        <a:t>GAT joint</a:t>
                      </a:r>
                    </a:p>
                  </a:txBody>
                  <a:tcPr marL="64008" marR="64008" marT="27432" marB="27432" anchor="ctr">
                    <a:solidFill>
                      <a:srgbClr val="E6EEF3"/>
                    </a:solidFill>
                  </a:tcPr>
                </a:tc>
                <a:tc>
                  <a:txBody>
                    <a:bodyPr/>
                    <a:lstStyle/>
                    <a:p>
                      <a:r>
                        <a:rPr sz="1200" b="0" i="0">
                          <a:solidFill>
                            <a:srgbClr val="1B2634"/>
                          </a:solidFill>
                          <a:latin typeface="Calibri"/>
                        </a:rPr>
                        <a:t>12</a:t>
                      </a:r>
                    </a:p>
                  </a:txBody>
                  <a:tcPr marL="64008" marR="64008" marT="27432" marB="27432" anchor="ctr">
                    <a:solidFill>
                      <a:srgbClr val="E6EEF3"/>
                    </a:solidFill>
                  </a:tcPr>
                </a:tc>
                <a:tc>
                  <a:txBody>
                    <a:bodyPr/>
                    <a:lstStyle/>
                    <a:p>
                      <a:r>
                        <a:rPr sz="1200" b="0" i="0">
                          <a:solidFill>
                            <a:srgbClr val="1B2634"/>
                          </a:solidFill>
                          <a:latin typeface="Calibri"/>
                        </a:rPr>
                        <a:t>52</a:t>
                      </a:r>
                    </a:p>
                  </a:txBody>
                  <a:tcPr marL="64008" marR="64008" marT="27432" marB="27432" anchor="ctr">
                    <a:solidFill>
                      <a:srgbClr val="E6EEF3"/>
                    </a:solidFill>
                  </a:tcPr>
                </a:tc>
                <a:tc>
                  <a:txBody>
                    <a:bodyPr/>
                    <a:lstStyle/>
                    <a:p>
                      <a:r>
                        <a:rPr sz="1200" b="0" i="0">
                          <a:solidFill>
                            <a:srgbClr val="1B2634"/>
                          </a:solidFill>
                          <a:latin typeface="Calibri"/>
                        </a:rPr>
                        <a:t>1222</a:t>
                      </a:r>
                    </a:p>
                  </a:txBody>
                  <a:tcPr marL="64008" marR="64008" marT="27432" marB="27432" anchor="ctr">
                    <a:solidFill>
                      <a:srgbClr val="E6EEF3"/>
                    </a:solidFill>
                  </a:tcPr>
                </a:tc>
                <a:extLst>
                  <a:ext uri="{0D108BD9-81ED-4DB2-BD59-A6C34878D82A}">
                    <a16:rowId xmlns:a16="http://schemas.microsoft.com/office/drawing/2014/main" val="10002"/>
                  </a:ext>
                </a:extLst>
              </a:tr>
              <a:tr h="434340">
                <a:tc>
                  <a:txBody>
                    <a:bodyPr/>
                    <a:lstStyle/>
                    <a:p>
                      <a:r>
                        <a:rPr sz="1200" b="0" i="0">
                          <a:solidFill>
                            <a:srgbClr val="1B2634"/>
                          </a:solidFill>
                          <a:latin typeface="Calibri"/>
                        </a:rPr>
                        <a:t>GATv2 joint</a:t>
                      </a:r>
                    </a:p>
                  </a:txBody>
                  <a:tcPr marL="64008" marR="64008" marT="27432" marB="27432" anchor="ctr">
                    <a:solidFill>
                      <a:srgbClr val="FFFFFF"/>
                    </a:solidFill>
                  </a:tcPr>
                </a:tc>
                <a:tc>
                  <a:txBody>
                    <a:bodyPr/>
                    <a:lstStyle/>
                    <a:p>
                      <a:r>
                        <a:rPr sz="1200" b="0" i="0">
                          <a:solidFill>
                            <a:srgbClr val="1B2634"/>
                          </a:solidFill>
                          <a:latin typeface="Calibri"/>
                        </a:rPr>
                        <a:t>16</a:t>
                      </a:r>
                    </a:p>
                  </a:txBody>
                  <a:tcPr marL="64008" marR="64008" marT="27432" marB="27432" anchor="ctr">
                    <a:solidFill>
                      <a:srgbClr val="FFFFFF"/>
                    </a:solidFill>
                  </a:tcPr>
                </a:tc>
                <a:tc>
                  <a:txBody>
                    <a:bodyPr/>
                    <a:lstStyle/>
                    <a:p>
                      <a:r>
                        <a:rPr sz="1200" b="0" i="0">
                          <a:solidFill>
                            <a:srgbClr val="1B2634"/>
                          </a:solidFill>
                          <a:latin typeface="Calibri"/>
                        </a:rPr>
                        <a:t>82</a:t>
                      </a:r>
                    </a:p>
                  </a:txBody>
                  <a:tcPr marL="64008" marR="64008" marT="27432" marB="27432" anchor="ctr">
                    <a:solidFill>
                      <a:srgbClr val="FFFFFF"/>
                    </a:solidFill>
                  </a:tcPr>
                </a:tc>
                <a:tc>
                  <a:txBody>
                    <a:bodyPr/>
                    <a:lstStyle/>
                    <a:p>
                      <a:r>
                        <a:rPr sz="1200" b="0" i="0">
                          <a:solidFill>
                            <a:srgbClr val="1B2634"/>
                          </a:solidFill>
                          <a:latin typeface="Calibri"/>
                        </a:rPr>
                        <a:t>1525</a:t>
                      </a:r>
                    </a:p>
                  </a:txBody>
                  <a:tcPr marL="64008" marR="64008"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8503920" y="3429000"/>
            <a:ext cx="3200400" cy="1097280"/>
          </a:xfrm>
          <a:prstGeom prst="rect">
            <a:avLst/>
          </a:prstGeom>
          <a:noFill/>
        </p:spPr>
        <p:txBody>
          <a:bodyPr wrap="square" lIns="0" tIns="0" rIns="0" bIns="0" anchor="t">
            <a:spAutoFit/>
          </a:bodyPr>
          <a:lstStyle/>
          <a:p>
            <a:pPr algn="l"/>
            <a:r>
              <a:rPr sz="1100" b="0" i="0">
                <a:solidFill>
                  <a:srgbClr val="5B6878"/>
                </a:solidFill>
                <a:latin typeface="Calibri"/>
              </a:rPr>
              <a:t>Training seconds and memory, single runs, CPU only (i7-1165G7). On Weibo the benchmark averages agree with these; Cora benchmark averages were about 2x higher (CPU shared).</a:t>
            </a:r>
          </a:p>
        </p:txBody>
      </p:sp>
      <p:sp>
        <p:nvSpPr>
          <p:cNvPr id="11" name="TextBox 10"/>
          <p:cNvSpPr txBox="1"/>
          <p:nvPr/>
        </p:nvSpPr>
        <p:spPr>
          <a:xfrm>
            <a:off x="548640" y="4892040"/>
            <a:ext cx="11064240" cy="1371600"/>
          </a:xfrm>
          <a:prstGeom prst="rect">
            <a:avLst/>
          </a:prstGeom>
          <a:noFill/>
        </p:spPr>
        <p:txBody>
          <a:bodyPr wrap="square" lIns="0" tIns="0" rIns="0" bIns="0">
            <a:spAutoFit/>
          </a:bodyPr>
          <a:lstStyle/>
          <a:p>
            <a:pPr marL="201168" indent="-201168">
              <a:spcAft>
                <a:spcPts val="400"/>
              </a:spcAft>
              <a:buChar char="•"/>
            </a:pPr>
            <a:r>
              <a:rPr sz="1300" b="0" i="0">
                <a:solidFill>
                  <a:srgbClr val="1B2634"/>
                </a:solidFill>
                <a:latin typeface="Calibri"/>
              </a:rPr>
              <a:t>Joint vs task-only: no reliable benefit (anomaly AUC +0.005 on Cora, +0.007 on Weibo; the influence-only head is as good or better)</a:t>
            </a:r>
          </a:p>
          <a:p>
            <a:pPr marL="201168" indent="-201168">
              <a:spcAft>
                <a:spcPts val="400"/>
              </a:spcAft>
              <a:buChar char="•"/>
            </a:pPr>
            <a:r>
              <a:rPr sz="1300" b="0" i="0">
                <a:solidFill>
                  <a:srgbClr val="1B2634"/>
                </a:solidFill>
                <a:latin typeface="Calibri"/>
              </a:rPr>
              <a:t>Edge removal: high-attention edges matter more than random ones for anomaly scores (Cora +0.019, Weibo +0.067) and for influence on Weibo (+0.298), not on Cora where attention is uniform</a:t>
            </a:r>
          </a:p>
          <a:p>
            <a:pPr marL="201168" indent="-201168">
              <a:spcAft>
                <a:spcPts val="400"/>
              </a:spcAft>
              <a:buChar char="•"/>
            </a:pPr>
            <a:r>
              <a:rPr sz="1300" b="0" i="0">
                <a:solidFill>
                  <a:srgbClr val="1B2634"/>
                </a:solidFill>
                <a:latin typeface="Calibri"/>
              </a:rPr>
              <a:t>Attention describes what the trained model uses; it is not a causal explanation and not a better predictor than the controls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48640" y="6446520"/>
            <a:ext cx="8229600" cy="274320"/>
          </a:xfrm>
          <a:prstGeom prst="rect">
            <a:avLst/>
          </a:prstGeom>
          <a:noFill/>
        </p:spPr>
        <p:txBody>
          <a:bodyPr wrap="square" lIns="0" tIns="0" rIns="0" bIns="0" anchor="t">
            <a:spAutoFit/>
          </a:bodyPr>
          <a:lstStyle/>
          <a:p>
            <a:pPr algn="l"/>
            <a:r>
              <a:rPr sz="900" b="0" i="0">
                <a:solidFill>
                  <a:srgbClr val="5B6878"/>
                </a:solidFill>
                <a:latin typeface="Calibri"/>
              </a:rPr>
              <a:t>Attention-driven GNN for influence and anomaly detection  |  Krish Kapoor (23MIC0023), A.M. Karthikeshwaran (23MID0215)</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r>
              <a:rPr sz="900" b="0" i="0">
                <a:solidFill>
                  <a:srgbClr val="5B6878"/>
                </a:solidFill>
                <a:latin typeface="Calibri"/>
              </a:rPr>
              <a:t>13</a:t>
            </a:r>
          </a:p>
        </p:txBody>
      </p:sp>
      <p:sp>
        <p:nvSpPr>
          <p:cNvPr id="4"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0B2545"/>
                </a:solidFill>
                <a:latin typeface="Cambria"/>
              </a:rPr>
              <a:t>Outcomes, failure cases, limitations and conclusion</a:t>
            </a:r>
          </a:p>
        </p:txBody>
      </p:sp>
      <p:sp>
        <p:nvSpPr>
          <p:cNvPr id="5" name="TextBox 4"/>
          <p:cNvSpPr txBox="1"/>
          <p:nvPr/>
        </p:nvSpPr>
        <p:spPr>
          <a:xfrm>
            <a:off x="548640" y="1024128"/>
            <a:ext cx="11064240" cy="365760"/>
          </a:xfrm>
          <a:prstGeom prst="rect">
            <a:avLst/>
          </a:prstGeom>
          <a:noFill/>
        </p:spPr>
        <p:txBody>
          <a:bodyPr wrap="square" lIns="0" tIns="0" rIns="0" bIns="0" anchor="t">
            <a:spAutoFit/>
          </a:bodyPr>
          <a:lstStyle/>
          <a:p>
            <a:pPr algn="l"/>
            <a:r>
              <a:rPr sz="1500" b="0" i="0">
                <a:solidFill>
                  <a:srgbClr val="5B6878"/>
                </a:solidFill>
                <a:latin typeface="Calibri"/>
              </a:rPr>
              <a:t>What the measurements support, and what they do not</a:t>
            </a:r>
          </a:p>
        </p:txBody>
      </p:sp>
      <p:sp>
        <p:nvSpPr>
          <p:cNvPr id="6" name="Rounded Rectangle 5"/>
          <p:cNvSpPr/>
          <p:nvPr/>
        </p:nvSpPr>
        <p:spPr>
          <a:xfrm>
            <a:off x="548640" y="1600200"/>
            <a:ext cx="3611880" cy="4480560"/>
          </a:xfrm>
          <a:prstGeom prst="roundRect">
            <a:avLst>
              <a:gd name="adj" fmla="val 5000"/>
            </a:avLst>
          </a:prstGeom>
          <a:solidFill>
            <a:srgbClr val="FFFFFF"/>
          </a:solidFill>
          <a:ln>
            <a:solidFill>
              <a:srgbClr val="E6EE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3246120" cy="365760"/>
          </a:xfrm>
          <a:prstGeom prst="rect">
            <a:avLst/>
          </a:prstGeom>
          <a:noFill/>
        </p:spPr>
        <p:txBody>
          <a:bodyPr wrap="square" lIns="0" tIns="0" rIns="0" bIns="0" anchor="t">
            <a:spAutoFit/>
          </a:bodyPr>
          <a:lstStyle/>
          <a:p>
            <a:pPr algn="l"/>
            <a:r>
              <a:rPr sz="1500" b="1" i="0">
                <a:solidFill>
                  <a:srgbClr val="13808B"/>
                </a:solidFill>
                <a:latin typeface="Cambria"/>
              </a:rPr>
              <a:t>What we found</a:t>
            </a:r>
          </a:p>
        </p:txBody>
      </p:sp>
      <p:sp>
        <p:nvSpPr>
          <p:cNvPr id="8" name="TextBox 7"/>
          <p:cNvSpPr txBox="1"/>
          <p:nvPr/>
        </p:nvSpPr>
        <p:spPr>
          <a:xfrm>
            <a:off x="731520" y="2167128"/>
            <a:ext cx="3246120" cy="3794760"/>
          </a:xfrm>
          <a:prstGeom prst="rect">
            <a:avLst/>
          </a:prstGeom>
          <a:noFill/>
        </p:spPr>
        <p:txBody>
          <a:bodyPr wrap="square" lIns="0" tIns="0" rIns="0" bIns="0">
            <a:spAutoFit/>
          </a:bodyPr>
          <a:lstStyle/>
          <a:p>
            <a:pPr marL="201168" indent="-201168">
              <a:spcAft>
                <a:spcPts val="700"/>
              </a:spcAft>
              <a:buChar char="•"/>
            </a:pPr>
            <a:r>
              <a:rPr sz="1300" b="0" i="0">
                <a:solidFill>
                  <a:srgbClr val="1B2634"/>
                </a:solidFill>
                <a:latin typeface="Calibri"/>
              </a:rPr>
              <a:t>Reconstruction and neighbour-discrepancy scores detect injected Cora anomalies (AUC about 0.77 to 0.80); Isolation Forest 0.68</a:t>
            </a:r>
          </a:p>
          <a:p>
            <a:pPr marL="201168" indent="-201168">
              <a:spcAft>
                <a:spcPts val="700"/>
              </a:spcAft>
              <a:buChar char="•"/>
            </a:pPr>
            <a:r>
              <a:rPr sz="1300" b="0" i="0">
                <a:solidFill>
                  <a:srgbClr val="1B2634"/>
                </a:solidFill>
                <a:latin typeface="Calibri"/>
              </a:rPr>
              <a:t>Attention-only scoring is matched by controls on Cora and weaker on Weibo</a:t>
            </a:r>
          </a:p>
          <a:p>
            <a:pPr marL="201168" indent="-201168">
              <a:spcAft>
                <a:spcPts val="700"/>
              </a:spcAft>
              <a:buChar char="•"/>
            </a:pPr>
            <a:r>
              <a:rPr sz="1300" b="0" i="0">
                <a:solidFill>
                  <a:srgbClr val="1B2634"/>
                </a:solidFill>
                <a:latin typeface="Calibri"/>
              </a:rPr>
              <a:t>Received attention equals the uniform control on Cora and is worse on Weibo; degree adjustment destroys it</a:t>
            </a:r>
          </a:p>
          <a:p>
            <a:pPr marL="201168" indent="-201168">
              <a:spcAft>
                <a:spcPts val="700"/>
              </a:spcAft>
              <a:buChar char="•"/>
            </a:pPr>
            <a:r>
              <a:rPr sz="1300" b="0" i="0">
                <a:solidFill>
                  <a:srgbClr val="1B2634"/>
                </a:solidFill>
                <a:latin typeface="Calibri"/>
              </a:rPr>
              <a:t>A plain GCN head is the best learned influence ranker (Weibo Spearman 0.89)</a:t>
            </a:r>
          </a:p>
          <a:p>
            <a:pPr marL="201168" indent="-201168">
              <a:spcAft>
                <a:spcPts val="700"/>
              </a:spcAft>
              <a:buChar char="•"/>
            </a:pPr>
            <a:r>
              <a:rPr sz="1300" b="0" i="0">
                <a:solidFill>
                  <a:srgbClr val="1B2634"/>
                </a:solidFill>
                <a:latin typeface="Calibri"/>
              </a:rPr>
              <a:t>Edge removal: attention marks edges that matter to the model where it is sharp (Weibo), not where it is uniform (Cora)</a:t>
            </a:r>
          </a:p>
        </p:txBody>
      </p:sp>
      <p:sp>
        <p:nvSpPr>
          <p:cNvPr id="9" name="Rounded Rectangle 8"/>
          <p:cNvSpPr/>
          <p:nvPr/>
        </p:nvSpPr>
        <p:spPr>
          <a:xfrm>
            <a:off x="4315968" y="1600200"/>
            <a:ext cx="3611880" cy="4480560"/>
          </a:xfrm>
          <a:prstGeom prst="roundRect">
            <a:avLst>
              <a:gd name="adj" fmla="val 5000"/>
            </a:avLst>
          </a:prstGeom>
          <a:solidFill>
            <a:srgbClr val="FFFFFF"/>
          </a:solidFill>
          <a:ln>
            <a:solidFill>
              <a:srgbClr val="E6EE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98848" y="1737360"/>
            <a:ext cx="3246120" cy="365760"/>
          </a:xfrm>
          <a:prstGeom prst="rect">
            <a:avLst/>
          </a:prstGeom>
          <a:noFill/>
        </p:spPr>
        <p:txBody>
          <a:bodyPr wrap="square" lIns="0" tIns="0" rIns="0" bIns="0" anchor="t">
            <a:spAutoFit/>
          </a:bodyPr>
          <a:lstStyle/>
          <a:p>
            <a:pPr algn="l"/>
            <a:r>
              <a:rPr sz="1500" b="1" i="0">
                <a:solidFill>
                  <a:srgbClr val="D9822B"/>
                </a:solidFill>
                <a:latin typeface="Cambria"/>
              </a:rPr>
              <a:t>Failure cases and limits</a:t>
            </a:r>
          </a:p>
        </p:txBody>
      </p:sp>
      <p:sp>
        <p:nvSpPr>
          <p:cNvPr id="11" name="TextBox 10"/>
          <p:cNvSpPr txBox="1"/>
          <p:nvPr/>
        </p:nvSpPr>
        <p:spPr>
          <a:xfrm>
            <a:off x="4498848" y="2167128"/>
            <a:ext cx="3246120" cy="3794760"/>
          </a:xfrm>
          <a:prstGeom prst="rect">
            <a:avLst/>
          </a:prstGeom>
          <a:noFill/>
        </p:spPr>
        <p:txBody>
          <a:bodyPr wrap="square" lIns="0" tIns="0" rIns="0" bIns="0">
            <a:spAutoFit/>
          </a:bodyPr>
          <a:lstStyle/>
          <a:p>
            <a:pPr marL="201168" indent="-201168">
              <a:spcAft>
                <a:spcPts val="700"/>
              </a:spcAft>
              <a:buChar char="•"/>
            </a:pPr>
            <a:r>
              <a:rPr sz="1300" b="0" i="0">
                <a:solidFill>
                  <a:srgbClr val="1B2634"/>
                </a:solidFill>
                <a:latin typeface="Calibri"/>
              </a:rPr>
              <a:t>Data trap: the upstream Weibo file blanks val/test labels; our first run used it. Found by validation, fixed, re-run</a:t>
            </a:r>
          </a:p>
          <a:p>
            <a:pPr marL="201168" indent="-201168">
              <a:spcAft>
                <a:spcPts val="700"/>
              </a:spcAft>
              <a:buChar char="•"/>
            </a:pPr>
            <a:r>
              <a:rPr sz="1300" b="0" i="0">
                <a:solidFill>
                  <a:srgbClr val="1B2634"/>
                </a:solidFill>
                <a:latin typeface="Calibri"/>
              </a:rPr>
              <a:t>GAT influence head overfits noisy targets</a:t>
            </a:r>
          </a:p>
          <a:p>
            <a:pPr marL="201168" indent="-201168">
              <a:spcAft>
                <a:spcPts val="700"/>
              </a:spcAft>
              <a:buChar char="•"/>
            </a:pPr>
            <a:r>
              <a:rPr sz="1300" b="0" i="0">
                <a:solidFill>
                  <a:srgbClr val="1B2634"/>
                </a:solidFill>
                <a:latin typeface="Calibri"/>
              </a:rPr>
              <a:t>Influence is simulated; Cora anomalies are injected</a:t>
            </a:r>
          </a:p>
          <a:p>
            <a:pPr marL="201168" indent="-201168">
              <a:spcAft>
                <a:spcPts val="700"/>
              </a:spcAft>
              <a:buChar char="•"/>
            </a:pPr>
            <a:r>
              <a:rPr sz="1300" b="0" i="0">
                <a:solidFill>
                  <a:srgbClr val="1B2634"/>
                </a:solidFill>
                <a:latin typeface="Calibri"/>
              </a:rPr>
              <a:t>Weibo structure error and Isolation Forest below chance; transductive; arc subsampling; 3 to 5 seeds</a:t>
            </a:r>
          </a:p>
        </p:txBody>
      </p:sp>
      <p:sp>
        <p:nvSpPr>
          <p:cNvPr id="12" name="Rounded Rectangle 11"/>
          <p:cNvSpPr/>
          <p:nvPr/>
        </p:nvSpPr>
        <p:spPr>
          <a:xfrm>
            <a:off x="8083296" y="1600200"/>
            <a:ext cx="3611880" cy="4480560"/>
          </a:xfrm>
          <a:prstGeom prst="roundRect">
            <a:avLst>
              <a:gd name="adj" fmla="val 5000"/>
            </a:avLst>
          </a:prstGeom>
          <a:solidFill>
            <a:srgbClr val="FFFFFF"/>
          </a:solidFill>
          <a:ln>
            <a:solidFill>
              <a:srgbClr val="E6EE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66175" y="1737360"/>
            <a:ext cx="3246120" cy="365760"/>
          </a:xfrm>
          <a:prstGeom prst="rect">
            <a:avLst/>
          </a:prstGeom>
          <a:noFill/>
        </p:spPr>
        <p:txBody>
          <a:bodyPr wrap="square" lIns="0" tIns="0" rIns="0" bIns="0" anchor="t">
            <a:spAutoFit/>
          </a:bodyPr>
          <a:lstStyle/>
          <a:p>
            <a:pPr algn="l"/>
            <a:r>
              <a:rPr sz="1500" b="1" i="0">
                <a:solidFill>
                  <a:srgbClr val="0B2545"/>
                </a:solidFill>
                <a:latin typeface="Cambria"/>
              </a:rPr>
              <a:t>Conclusion</a:t>
            </a:r>
          </a:p>
        </p:txBody>
      </p:sp>
      <p:sp>
        <p:nvSpPr>
          <p:cNvPr id="14" name="TextBox 13"/>
          <p:cNvSpPr txBox="1"/>
          <p:nvPr/>
        </p:nvSpPr>
        <p:spPr>
          <a:xfrm>
            <a:off x="8266175" y="2167128"/>
            <a:ext cx="3246120" cy="3794760"/>
          </a:xfrm>
          <a:prstGeom prst="rect">
            <a:avLst/>
          </a:prstGeom>
          <a:noFill/>
        </p:spPr>
        <p:txBody>
          <a:bodyPr wrap="square" lIns="0" tIns="0" rIns="0" bIns="0">
            <a:spAutoFit/>
          </a:bodyPr>
          <a:lstStyle/>
          <a:p>
            <a:pPr marL="201168" indent="-201168">
              <a:spcAft>
                <a:spcPts val="700"/>
              </a:spcAft>
              <a:buChar char="•"/>
            </a:pPr>
            <a:r>
              <a:rPr sz="1300" b="0" i="0">
                <a:solidFill>
                  <a:srgbClr val="1B2634"/>
                </a:solidFill>
                <a:latin typeface="Calibri"/>
              </a:rPr>
              <a:t>As tested, attention-derived signals do not beat simple controls on either task</a:t>
            </a:r>
          </a:p>
          <a:p>
            <a:pPr marL="201168" indent="-201168">
              <a:spcAft>
                <a:spcPts val="700"/>
              </a:spcAft>
              <a:buChar char="•"/>
            </a:pPr>
            <a:r>
              <a:rPr sz="1300" b="0" i="0">
                <a:solidFill>
                  <a:srgbClr val="1B2634"/>
                </a:solidFill>
                <a:latin typeface="Calibri"/>
              </a:rPr>
              <a:t>The negative result is itself informative; the pipeline, controls and perturbation test are reusable</a:t>
            </a:r>
          </a:p>
          <a:p>
            <a:pPr marL="201168" indent="-201168">
              <a:spcAft>
                <a:spcPts val="700"/>
              </a:spcAft>
              <a:buChar char="•"/>
            </a:pPr>
            <a:r>
              <a:rPr sz="1300" b="0" i="0">
                <a:solidFill>
                  <a:srgbClr val="1B2634"/>
                </a:solidFill>
                <a:latin typeface="Calibri"/>
              </a:rPr>
              <a:t>Joint training: no reliable benefit at this scale</a:t>
            </a:r>
          </a:p>
          <a:p>
            <a:pPr marL="201168" indent="-201168">
              <a:spcAft>
                <a:spcPts val="700"/>
              </a:spcAft>
              <a:buChar char="•"/>
            </a:pPr>
            <a:r>
              <a:rPr sz="1300" b="0" i="0">
                <a:solidFill>
                  <a:srgbClr val="1B2634"/>
                </a:solidFill>
                <a:latin typeface="Calibri"/>
              </a:rPr>
              <a:t>Claims are limited to these datasets, budgets and proxies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48640" y="6446520"/>
            <a:ext cx="8229600" cy="274320"/>
          </a:xfrm>
          <a:prstGeom prst="rect">
            <a:avLst/>
          </a:prstGeom>
          <a:noFill/>
        </p:spPr>
        <p:txBody>
          <a:bodyPr wrap="square" lIns="0" tIns="0" rIns="0" bIns="0" anchor="t">
            <a:spAutoFit/>
          </a:bodyPr>
          <a:lstStyle/>
          <a:p>
            <a:pPr algn="l"/>
            <a:r>
              <a:rPr sz="900" b="0" i="0">
                <a:solidFill>
                  <a:srgbClr val="5B6878"/>
                </a:solidFill>
                <a:latin typeface="Calibri"/>
              </a:rPr>
              <a:t>Attention-driven GNN for influence and anomaly detection  |  Krish Kapoor (23MIC0023), A.M. Karthikeshwaran (23MID0215)</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r>
              <a:rPr sz="900" b="0" i="0">
                <a:solidFill>
                  <a:srgbClr val="5B6878"/>
                </a:solidFill>
                <a:latin typeface="Calibri"/>
              </a:rPr>
              <a:t>14</a:t>
            </a:r>
          </a:p>
        </p:txBody>
      </p:sp>
      <p:sp>
        <p:nvSpPr>
          <p:cNvPr id="4"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0B2545"/>
                </a:solidFill>
                <a:latin typeface="Cambria"/>
              </a:rPr>
              <a:t>Future work and selected references</a:t>
            </a:r>
          </a:p>
        </p:txBody>
      </p:sp>
      <p:sp>
        <p:nvSpPr>
          <p:cNvPr id="5" name="TextBox 4"/>
          <p:cNvSpPr txBox="1"/>
          <p:nvPr/>
        </p:nvSpPr>
        <p:spPr>
          <a:xfrm>
            <a:off x="548640" y="1371600"/>
            <a:ext cx="5120640" cy="4846320"/>
          </a:xfrm>
          <a:prstGeom prst="rect">
            <a:avLst/>
          </a:prstGeom>
          <a:noFill/>
        </p:spPr>
        <p:txBody>
          <a:bodyPr wrap="square" lIns="0" tIns="0" rIns="0" bIns="0">
            <a:spAutoFit/>
          </a:bodyPr>
          <a:lstStyle/>
          <a:p>
            <a:pPr marL="201168" indent="-201168">
              <a:spcAft>
                <a:spcPts val="800"/>
              </a:spcAft>
              <a:buChar char="•"/>
            </a:pPr>
            <a:r>
              <a:rPr sz="1400" b="0" i="0">
                <a:solidFill>
                  <a:srgbClr val="1B2634"/>
                </a:solidFill>
                <a:latin typeface="Calibri"/>
              </a:rPr>
              <a:t>Test attention on graphs with </a:t>
            </a:r>
            <a:r>
              <a:rPr sz="1400" b="1" i="0">
                <a:solidFill>
                  <a:srgbClr val="1B2634"/>
                </a:solidFill>
                <a:latin typeface="Calibri"/>
              </a:rPr>
              <a:t>dynamic</a:t>
            </a:r>
            <a:r>
              <a:rPr sz="1400" b="0" i="0">
                <a:solidFill>
                  <a:srgbClr val="1B2634"/>
                </a:solidFill>
                <a:latin typeface="Calibri"/>
              </a:rPr>
              <a:t> or sharper attention (GATv2 with entropy regularisation)</a:t>
            </a:r>
          </a:p>
          <a:p>
            <a:pPr marL="201168" indent="-201168">
              <a:spcAft>
                <a:spcPts val="800"/>
              </a:spcAft>
              <a:buChar char="•"/>
            </a:pPr>
            <a:r>
              <a:rPr sz="1400" b="0" i="0">
                <a:solidFill>
                  <a:srgbClr val="1B2634"/>
                </a:solidFill>
                <a:latin typeface="Calibri"/>
              </a:rPr>
              <a:t>Use </a:t>
            </a:r>
            <a:r>
              <a:rPr sz="1400" b="1" i="0">
                <a:solidFill>
                  <a:srgbClr val="1B2634"/>
                </a:solidFill>
                <a:latin typeface="Calibri"/>
              </a:rPr>
              <a:t>measured</a:t>
            </a:r>
            <a:r>
              <a:rPr sz="1400" b="0" i="0">
                <a:solidFill>
                  <a:srgbClr val="1B2634"/>
                </a:solidFill>
                <a:latin typeface="Calibri"/>
              </a:rPr>
              <a:t> cascades instead of simulated spread</a:t>
            </a:r>
          </a:p>
          <a:p>
            <a:pPr marL="201168" indent="-201168">
              <a:spcAft>
                <a:spcPts val="800"/>
              </a:spcAft>
              <a:buChar char="•"/>
            </a:pPr>
            <a:r>
              <a:rPr sz="1400" b="0" i="0">
                <a:solidFill>
                  <a:srgbClr val="1B2634"/>
                </a:solidFill>
                <a:latin typeface="Calibri"/>
              </a:rPr>
              <a:t>Run the full BOND suite and Reddit (near-chance for most detectors) under the same protocol</a:t>
            </a:r>
          </a:p>
          <a:p>
            <a:pPr marL="201168" indent="-201168">
              <a:spcAft>
                <a:spcPts val="800"/>
              </a:spcAft>
              <a:buChar char="•"/>
            </a:pPr>
            <a:r>
              <a:rPr sz="1400" b="0" i="0">
                <a:solidFill>
                  <a:srgbClr val="1B2634"/>
                </a:solidFill>
                <a:latin typeface="Calibri"/>
              </a:rPr>
              <a:t>Multi-scale neighbourhoods (Gutiérrez-Gómez et al. 2020)</a:t>
            </a:r>
          </a:p>
          <a:p>
            <a:pPr marL="201168" indent="-201168">
              <a:spcAft>
                <a:spcPts val="800"/>
              </a:spcAft>
              <a:buChar char="•"/>
            </a:pPr>
            <a:r>
              <a:rPr sz="1400" b="0" i="0">
                <a:solidFill>
                  <a:srgbClr val="1B2634"/>
                </a:solidFill>
                <a:latin typeface="Calibri"/>
              </a:rPr>
              <a:t>Stronger faithfulness tests and explainers (GNNExplainer-style)</a:t>
            </a:r>
          </a:p>
          <a:p>
            <a:pPr marL="201168" indent="-201168">
              <a:spcAft>
                <a:spcPts val="800"/>
              </a:spcAft>
              <a:buChar char="•"/>
            </a:pPr>
            <a:r>
              <a:rPr sz="1400" b="0" i="0">
                <a:solidFill>
                  <a:srgbClr val="1B2634"/>
                </a:solidFill>
                <a:latin typeface="Calibri"/>
              </a:rPr>
              <a:t>Inductive evaluation on unseen graphs</a:t>
            </a:r>
          </a:p>
        </p:txBody>
      </p:sp>
      <p:sp>
        <p:nvSpPr>
          <p:cNvPr id="6" name="TextBox 5"/>
          <p:cNvSpPr txBox="1"/>
          <p:nvPr/>
        </p:nvSpPr>
        <p:spPr>
          <a:xfrm>
            <a:off x="6035040" y="1417320"/>
            <a:ext cx="5669280" cy="320040"/>
          </a:xfrm>
          <a:prstGeom prst="rect">
            <a:avLst/>
          </a:prstGeom>
          <a:noFill/>
        </p:spPr>
        <p:txBody>
          <a:bodyPr wrap="square" lIns="0" tIns="0" rIns="0" bIns="0" anchor="t">
            <a:spAutoFit/>
          </a:bodyPr>
          <a:lstStyle/>
          <a:p>
            <a:pPr algn="l"/>
            <a:r>
              <a:rPr sz="1300" b="1" i="0">
                <a:solidFill>
                  <a:srgbClr val="13808B"/>
                </a:solidFill>
                <a:latin typeface="Calibri"/>
              </a:rPr>
              <a:t>Selected references (full list in report Section 8)</a:t>
            </a:r>
          </a:p>
        </p:txBody>
      </p:sp>
      <p:sp>
        <p:nvSpPr>
          <p:cNvPr id="7" name="TextBox 6"/>
          <p:cNvSpPr txBox="1"/>
          <p:nvPr/>
        </p:nvSpPr>
        <p:spPr>
          <a:xfrm>
            <a:off x="6035040" y="1783080"/>
            <a:ext cx="5669280" cy="4480560"/>
          </a:xfrm>
          <a:prstGeom prst="rect">
            <a:avLst/>
          </a:prstGeom>
          <a:noFill/>
        </p:spPr>
        <p:txBody>
          <a:bodyPr wrap="square" lIns="0" tIns="0" rIns="0" bIns="0">
            <a:spAutoFit/>
          </a:bodyPr>
          <a:lstStyle/>
          <a:p>
            <a:pPr marL="201168" indent="-201168">
              <a:spcAft>
                <a:spcPts val="500"/>
              </a:spcAft>
              <a:buChar char="•"/>
            </a:pPr>
            <a:r>
              <a:rPr sz="1200" b="0" i="0">
                <a:solidFill>
                  <a:srgbClr val="1B2634"/>
                </a:solidFill>
                <a:latin typeface="Calibri"/>
              </a:rPr>
              <a:t>Kipf &amp; Welling. Semi-supervised classification with GCNs. ICLR 2017.</a:t>
            </a:r>
          </a:p>
          <a:p>
            <a:pPr marL="201168" indent="-201168">
              <a:spcAft>
                <a:spcPts val="500"/>
              </a:spcAft>
              <a:buChar char="•"/>
            </a:pPr>
            <a:r>
              <a:rPr sz="1200" b="0" i="0">
                <a:solidFill>
                  <a:srgbClr val="1B2634"/>
                </a:solidFill>
                <a:latin typeface="Calibri"/>
              </a:rPr>
              <a:t>Veličković et al. Graph attention networks. ICLR 2018.</a:t>
            </a:r>
          </a:p>
          <a:p>
            <a:pPr marL="201168" indent="-201168">
              <a:spcAft>
                <a:spcPts val="500"/>
              </a:spcAft>
              <a:buChar char="•"/>
            </a:pPr>
            <a:r>
              <a:rPr sz="1200" b="0" i="0">
                <a:solidFill>
                  <a:srgbClr val="1B2634"/>
                </a:solidFill>
                <a:latin typeface="Calibri"/>
              </a:rPr>
              <a:t>Brody, Alon, Yahav. How attentive are GATs? ICLR 2022.</a:t>
            </a:r>
          </a:p>
          <a:p>
            <a:pPr marL="201168" indent="-201168">
              <a:spcAft>
                <a:spcPts val="500"/>
              </a:spcAft>
              <a:buChar char="•"/>
            </a:pPr>
            <a:r>
              <a:rPr sz="1200" b="0" i="0">
                <a:solidFill>
                  <a:srgbClr val="1B2634"/>
                </a:solidFill>
                <a:latin typeface="Calibri"/>
              </a:rPr>
              <a:t>Ding et al. Deep anomaly detection on attributed networks. SDM 2019.</a:t>
            </a:r>
          </a:p>
          <a:p>
            <a:pPr marL="201168" indent="-201168">
              <a:spcAft>
                <a:spcPts val="500"/>
              </a:spcAft>
              <a:buChar char="•"/>
            </a:pPr>
            <a:r>
              <a:rPr sz="1200" b="0" i="0">
                <a:solidFill>
                  <a:srgbClr val="1B2634"/>
                </a:solidFill>
                <a:latin typeface="Calibri"/>
              </a:rPr>
              <a:t>Liu et al. BOND: benchmarking unsupervised outlier node detection. NeurIPS D&amp;B 2022.</a:t>
            </a:r>
          </a:p>
          <a:p>
            <a:pPr marL="201168" indent="-201168">
              <a:spcAft>
                <a:spcPts val="500"/>
              </a:spcAft>
              <a:buChar char="•"/>
            </a:pPr>
            <a:r>
              <a:rPr sz="1200" b="0" i="0">
                <a:solidFill>
                  <a:srgbClr val="1B2634"/>
                </a:solidFill>
                <a:latin typeface="Calibri"/>
              </a:rPr>
              <a:t>Kempe, Kleinberg, Tardos. Maximizing the spread of influence. KDD 2003.</a:t>
            </a:r>
          </a:p>
          <a:p>
            <a:pPr marL="201168" indent="-201168">
              <a:spcAft>
                <a:spcPts val="500"/>
              </a:spcAft>
              <a:buChar char="•"/>
            </a:pPr>
            <a:r>
              <a:rPr sz="1200" b="0" i="0">
                <a:solidFill>
                  <a:srgbClr val="1B2634"/>
                </a:solidFill>
                <a:latin typeface="Calibri"/>
              </a:rPr>
              <a:t>Ying et al. GNNExplainer. NeurIPS 2019.</a:t>
            </a:r>
          </a:p>
          <a:p>
            <a:pPr marL="201168" indent="-201168">
              <a:spcAft>
                <a:spcPts val="500"/>
              </a:spcAft>
              <a:buChar char="•"/>
            </a:pPr>
            <a:r>
              <a:rPr sz="1200" b="0" i="0">
                <a:solidFill>
                  <a:srgbClr val="1B2634"/>
                </a:solidFill>
                <a:latin typeface="Calibri"/>
              </a:rPr>
              <a:t>Gu et al. DeepLinker / GANR (attention rank). arXiv 2019; Sci. Rep. 2021.</a:t>
            </a:r>
          </a:p>
          <a:p>
            <a:pPr marL="201168" indent="-201168">
              <a:spcAft>
                <a:spcPts val="500"/>
              </a:spcAft>
              <a:buChar char="•"/>
            </a:pPr>
            <a:r>
              <a:rPr sz="1200" b="0" i="0">
                <a:solidFill>
                  <a:srgbClr val="1B2634"/>
                </a:solidFill>
                <a:latin typeface="Calibri"/>
              </a:rPr>
              <a:t>Akoglu, Tong, Koutra. Graph-based anomaly detection and description. DMKD 2015.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1324</TotalTime>
  <Words>3523</Words>
  <Application>Microsoft Office PowerPoint</Application>
  <PresentationFormat>Widescreen</PresentationFormat>
  <Paragraphs>308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KRISH KAPOOR</cp:lastModifiedBy>
  <cp:revision>2</cp:revision>
  <dcterms:created xsi:type="dcterms:W3CDTF">2013-01-27T09:14:16Z</dcterms:created>
  <dcterms:modified xsi:type="dcterms:W3CDTF">2026-10-27T15:28:25Z</dcterms:modified>
  <cp:category/>
</cp:coreProperties>
</file>